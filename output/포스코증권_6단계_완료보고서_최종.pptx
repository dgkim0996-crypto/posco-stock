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d940bc1c9342cd" /><Relationship Type="http://schemas.openxmlformats.org/officeDocument/2006/relationships/extended-properties" Target="/docProps/app.xml" Id="Rc9c6adf5bda24c3c" /><Relationship Type="http://schemas.openxmlformats.org/officeDocument/2006/relationships/officeDocument" Target="/ppt/presentation.xml" Id="R9b35a7883b7640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5d42d6e2334286"/>
  </p:sldMasterIdLst>
  <p:notesMasterIdLst>
    <p:notesMasterId xmlns:r="http://schemas.openxmlformats.org/officeDocument/2006/relationships" r:id="Rc58099105b63459c"/>
  </p:notesMasterIdLst>
  <p:sldIdLst>
    <p:sldId xmlns:r="http://schemas.openxmlformats.org/officeDocument/2006/relationships" id="256" r:id="R71fcbd22fe074313"/>
    <p:sldId xmlns:r="http://schemas.openxmlformats.org/officeDocument/2006/relationships" id="257" r:id="Rab4f8155f6e04025"/>
    <p:sldId xmlns:r="http://schemas.openxmlformats.org/officeDocument/2006/relationships" id="258" r:id="Raf48deecacab4921"/>
    <p:sldId xmlns:r="http://schemas.openxmlformats.org/officeDocument/2006/relationships" id="259" r:id="Rfa52d67c1b1d4242"/>
    <p:sldId xmlns:r="http://schemas.openxmlformats.org/officeDocument/2006/relationships" id="260" r:id="R22199fb037a3427d"/>
    <p:sldId xmlns:r="http://schemas.openxmlformats.org/officeDocument/2006/relationships" id="261" r:id="R2815cab919844eb3"/>
    <p:sldId xmlns:r="http://schemas.openxmlformats.org/officeDocument/2006/relationships" id="262" r:id="R403c612115a0436e"/>
    <p:sldId xmlns:r="http://schemas.openxmlformats.org/officeDocument/2006/relationships" id="263" r:id="R6cb49e4ef94e4729"/>
    <p:sldId xmlns:r="http://schemas.openxmlformats.org/officeDocument/2006/relationships" id="264" r:id="Rbf29ab440a62455a"/>
    <p:sldId xmlns:r="http://schemas.openxmlformats.org/officeDocument/2006/relationships" id="265" r:id="Rccaad85122ca4d11"/>
    <p:sldId xmlns:r="http://schemas.openxmlformats.org/officeDocument/2006/relationships" id="266" r:id="R5dc4b6493fd54f3a"/>
    <p:sldId xmlns:r="http://schemas.openxmlformats.org/officeDocument/2006/relationships" id="267" r:id="R47dbae08ec4240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90a4420caa4e38" /><Relationship Type="http://schemas.openxmlformats.org/officeDocument/2006/relationships/slideMaster" Target="/ppt/slideMasters/slideMaster1.xml" Id="Rfa5d42d6e2334286" /><Relationship Type="http://schemas.openxmlformats.org/officeDocument/2006/relationships/notesMaster" Target="/ppt/notesMasters/notesMaster1.xml" Id="Rc58099105b63459c" /><Relationship Type="http://schemas.openxmlformats.org/officeDocument/2006/relationships/presProps" Target="/ppt/presProps.xml" Id="Ref2767f4b4df4096" /><Relationship Type="http://schemas.openxmlformats.org/officeDocument/2006/relationships/viewProps" Target="/ppt/viewProps.xml" Id="R21bd189e1a694a37" /><Relationship Type="http://schemas.openxmlformats.org/officeDocument/2006/relationships/tableStyles" Target="/ppt/tableStyles.xml" Id="R347d556732454155" /><Relationship Type="http://schemas.openxmlformats.org/officeDocument/2006/relationships/slide" Target="/ppt/slides/slide1.xml" Id="R71fcbd22fe074313" /><Relationship Type="http://schemas.openxmlformats.org/officeDocument/2006/relationships/slide" Target="/ppt/slides/slide2.xml" Id="Rab4f8155f6e04025" /><Relationship Type="http://schemas.openxmlformats.org/officeDocument/2006/relationships/slide" Target="/ppt/slides/slide3.xml" Id="Raf48deecacab4921" /><Relationship Type="http://schemas.openxmlformats.org/officeDocument/2006/relationships/slide" Target="/ppt/slides/slide4.xml" Id="Rfa52d67c1b1d4242" /><Relationship Type="http://schemas.openxmlformats.org/officeDocument/2006/relationships/slide" Target="/ppt/slides/slide5.xml" Id="R22199fb037a3427d" /><Relationship Type="http://schemas.openxmlformats.org/officeDocument/2006/relationships/slide" Target="/ppt/slides/slide6.xml" Id="R2815cab919844eb3" /><Relationship Type="http://schemas.openxmlformats.org/officeDocument/2006/relationships/slide" Target="/ppt/slides/slide7.xml" Id="R403c612115a0436e" /><Relationship Type="http://schemas.openxmlformats.org/officeDocument/2006/relationships/slide" Target="/ppt/slides/slide8.xml" Id="R6cb49e4ef94e4729" /><Relationship Type="http://schemas.openxmlformats.org/officeDocument/2006/relationships/slide" Target="/ppt/slides/slide9.xml" Id="Rbf29ab440a62455a" /><Relationship Type="http://schemas.openxmlformats.org/officeDocument/2006/relationships/slide" Target="/ppt/slides/slide10.xml" Id="Rccaad85122ca4d11" /><Relationship Type="http://schemas.openxmlformats.org/officeDocument/2006/relationships/slide" Target="/ppt/slides/slide11.xml" Id="R5dc4b6493fd54f3a" /><Relationship Type="http://schemas.openxmlformats.org/officeDocument/2006/relationships/slide" Target="/ppt/slides/slide12.xml" Id="R47dbae08ec4240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0c432517bc47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afb6a0362143ae" /><Relationship Type="http://schemas.openxmlformats.org/officeDocument/2006/relationships/notesMaster" Target="/ppt/notesMasters/notesMaster1.xml" Id="R3c90e017d78744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4471ede9d249a0" /><Relationship Type="http://schemas.openxmlformats.org/officeDocument/2006/relationships/notesMaster" Target="/ppt/notesMasters/notesMaster1.xml" Id="Rd7e6736f57b14a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aeebd9c8ce468d" /><Relationship Type="http://schemas.openxmlformats.org/officeDocument/2006/relationships/notesMaster" Target="/ppt/notesMasters/notesMaster1.xml" Id="Rf5fa65a97c8b47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567ab6795d4df6" /><Relationship Type="http://schemas.openxmlformats.org/officeDocument/2006/relationships/notesMaster" Target="/ppt/notesMasters/notesMaster1.xml" Id="Rb95e6b8960cc4c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8ab0ba26b445a1" /><Relationship Type="http://schemas.openxmlformats.org/officeDocument/2006/relationships/notesMaster" Target="/ppt/notesMasters/notesMaster1.xml" Id="R1ff53acad2894a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7d704cd8344c80" /><Relationship Type="http://schemas.openxmlformats.org/officeDocument/2006/relationships/notesMaster" Target="/ppt/notesMasters/notesMaster1.xml" Id="R255c6fbe3e134b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f83cf43ff64636" /><Relationship Type="http://schemas.openxmlformats.org/officeDocument/2006/relationships/notesMaster" Target="/ppt/notesMasters/notesMaster1.xml" Id="R15841bdded7045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015f4197a0413d" /><Relationship Type="http://schemas.openxmlformats.org/officeDocument/2006/relationships/notesMaster" Target="/ppt/notesMasters/notesMaster1.xml" Id="R84bdf510d6904d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a64d89e5504f9a" /><Relationship Type="http://schemas.openxmlformats.org/officeDocument/2006/relationships/notesMaster" Target="/ppt/notesMasters/notesMaster1.xml" Id="R7f5b0b9764c146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6fd295ce884f35" /><Relationship Type="http://schemas.openxmlformats.org/officeDocument/2006/relationships/notesMaster" Target="/ppt/notesMasters/notesMaster1.xml" Id="Rb456f422cdef4b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0ab82d4c8148b0" /><Relationship Type="http://schemas.openxmlformats.org/officeDocument/2006/relationships/notesMaster" Target="/ppt/notesMasters/notesMaster1.xml" Id="R427e9fc319e94e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60202f36844aab" /><Relationship Type="http://schemas.openxmlformats.org/officeDocument/2006/relationships/notesMaster" Target="/ppt/notesMasters/notesMaster1.xml" Id="R10555cad171547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사용자 제공 원본</a:t>
            </a:r>
            <a:r>
              <a:t>: </a:t>
            </a:r>
            <a:r>
              <a:t>뽀스꼬계획서</a:t>
            </a:r>
            <a:r>
              <a:t>.pptx</a:t>
            </a:r>
          </a:p>
          <a:p xmlns:a="http://schemas.openxmlformats.org/drawingml/2006/main">
            <a:r>
              <a:t>- </a:t>
            </a:r>
            <a:r>
              <a:t>현재 로컬 프로젝트 소스 및 실행 화면 </a:t>
            </a:r>
            <a:r>
              <a:t>(2026-09-03)</a:t>
            </a:r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사용자 제공 원본</a:t>
            </a:r>
            <a:r>
              <a:t>: </a:t>
            </a:r>
            <a:r>
              <a:t>뽀스꼬계획서</a:t>
            </a:r>
            <a:r>
              <a:t>.pptx</a:t>
            </a:r>
          </a:p>
          <a:p xmlns:a="http://schemas.openxmlformats.org/drawingml/2006/main">
            <a:r>
              <a:t>- </a:t>
            </a:r>
            <a:r>
              <a:t>현재 로컬 프로젝트 소스 및 실행 화면 </a:t>
            </a:r>
            <a:r>
              <a:t>(2026-09-03)</a:t>
            </a:r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사용자 제공 원본</a:t>
            </a:r>
            <a:r>
              <a:t>: </a:t>
            </a:r>
            <a:r>
              <a:t>뽀스꼬계획서</a:t>
            </a:r>
            <a:r>
              <a:t>.pptx</a:t>
            </a:r>
          </a:p>
          <a:p xmlns:a="http://schemas.openxmlformats.org/drawingml/2006/main">
            <a:r>
              <a:t>- </a:t>
            </a:r>
            <a:r>
              <a:t>현재 로컬 프로젝트 소스 및 실행 화면 </a:t>
            </a:r>
            <a:r>
              <a:t>(2026-09-03)</a:t>
            </a:r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사용자 제공 원본</a:t>
            </a:r>
            <a:r>
              <a:t>: </a:t>
            </a:r>
            <a:r>
              <a:t>뽀스꼬계획서</a:t>
            </a:r>
            <a:r>
              <a:t>.pptx</a:t>
            </a:r>
          </a:p>
          <a:p xmlns:a="http://schemas.openxmlformats.org/drawingml/2006/main">
            <a:r>
              <a:t>- </a:t>
            </a:r>
            <a:r>
              <a:t>현재 로컬 프로젝트 소스 및 실행 화면 </a:t>
            </a:r>
            <a:r>
              <a:t>(2026-09-03)</a:t>
            </a:r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사용자 제공 원본</a:t>
            </a:r>
            <a:r>
              <a:t>: </a:t>
            </a:r>
            <a:r>
              <a:t>뽀스꼬계획서</a:t>
            </a:r>
            <a:r>
              <a:t>.pptx</a:t>
            </a:r>
          </a:p>
          <a:p xmlns:a="http://schemas.openxmlformats.org/drawingml/2006/main">
            <a:r>
              <a:t>- </a:t>
            </a:r>
            <a:r>
              <a:t>현재 로컬 프로젝트 소스 및 실행 화면 </a:t>
            </a:r>
            <a:r>
              <a:t>(2026-09-03)</a:t>
            </a:r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사용자 제공 원본</a:t>
            </a:r>
            <a:r>
              <a:t>: </a:t>
            </a:r>
            <a:r>
              <a:t>뽀스꼬계획서</a:t>
            </a:r>
            <a:r>
              <a:t>.pptx</a:t>
            </a:r>
          </a:p>
          <a:p xmlns:a="http://schemas.openxmlformats.org/drawingml/2006/main">
            <a:r>
              <a:t>- </a:t>
            </a:r>
            <a:r>
              <a:t>현재 로컬 프로젝트 소스 및 실행 화면 </a:t>
            </a:r>
            <a:r>
              <a:t>(2026-09-03)</a:t>
            </a:r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사용자 제공 원본</a:t>
            </a:r>
            <a:r>
              <a:t>: </a:t>
            </a:r>
            <a:r>
              <a:t>뽀스꼬계획서</a:t>
            </a:r>
            <a:r>
              <a:t>.pptx</a:t>
            </a:r>
          </a:p>
          <a:p xmlns:a="http://schemas.openxmlformats.org/drawingml/2006/main">
            <a:r>
              <a:t>- </a:t>
            </a:r>
            <a:r>
              <a:t>현재 로컬 프로젝트 소스 및 실행 화면 </a:t>
            </a:r>
            <a:r>
              <a:t>(2026-09-03)</a:t>
            </a:r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사용자 제공 원본</a:t>
            </a:r>
            <a:r>
              <a:t>: </a:t>
            </a:r>
            <a:r>
              <a:t>뽀스꼬계획서</a:t>
            </a:r>
            <a:r>
              <a:t>.pptx</a:t>
            </a:r>
          </a:p>
          <a:p xmlns:a="http://schemas.openxmlformats.org/drawingml/2006/main">
            <a:r>
              <a:t>- </a:t>
            </a:r>
            <a:r>
              <a:t>현재 로컬 프로젝트 소스 및 실행 화면 </a:t>
            </a:r>
            <a:r>
              <a:t>(2026-09-03)</a:t>
            </a:r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사용자 제공 원본</a:t>
            </a:r>
            <a:r>
              <a:t>: </a:t>
            </a:r>
            <a:r>
              <a:t>뽀스꼬계획서</a:t>
            </a:r>
            <a:r>
              <a:t>.pptx</a:t>
            </a:r>
          </a:p>
          <a:p xmlns:a="http://schemas.openxmlformats.org/drawingml/2006/main">
            <a:r>
              <a:t>- </a:t>
            </a:r>
            <a:r>
              <a:t>현재 로컬 프로젝트 소스 및 실행 화면 </a:t>
            </a:r>
            <a:r>
              <a:t>(2026-09-03)</a:t>
            </a:r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사용자 제공 원본</a:t>
            </a:r>
            <a:r>
              <a:t>: </a:t>
            </a:r>
            <a:r>
              <a:t>뽀스꼬계획서</a:t>
            </a:r>
            <a:r>
              <a:t>.pptx</a:t>
            </a:r>
          </a:p>
          <a:p xmlns:a="http://schemas.openxmlformats.org/drawingml/2006/main">
            <a:r>
              <a:t>- </a:t>
            </a:r>
            <a:r>
              <a:t>현재 로컬 프로젝트 소스 및 실행 화면 </a:t>
            </a:r>
            <a:r>
              <a:t>(2026-09-03)</a:t>
            </a:r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</a:t>
            </a:r>
            <a:r>
              <a:t>사용자 제공 원본</a:t>
            </a:r>
            <a:r>
              <a:t>: </a:t>
            </a:r>
            <a:r>
              <a:t>뽀스꼬계획서</a:t>
            </a:r>
            <a:r>
              <a:t>.pptx</a:t>
            </a:r>
          </a:p>
          <a:p xmlns:a="http://schemas.openxmlformats.org/drawingml/2006/main">
            <a:r>
              <a:t>- </a:t>
            </a:r>
            <a:r>
              <a:t>현재 로컬 프로젝트 소스 및 실행 화면 </a:t>
            </a:r>
            <a:r>
              <a:t>(2026-09-03)</a:t>
            </a:r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686ac0f53b47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70d6d71604bb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clean"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AB83470-1566-4BD5-968B-BF67FD33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12700">
            <a:solidFill>
              <a:srgbClr val="F4F8FC"/>
            </a:solidFill>
            <a:prstDash val="solid"/>
          </a:ln>
        </p:spPr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A2B0508-389D-4D9C-BF70-4F3B455296F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0ca47da4c6493c" /><Relationship Type="http://schemas.openxmlformats.org/officeDocument/2006/relationships/slideLayout" Target="/ppt/slideLayouts/slideLayout1.xml" Id="R13516c4441324230" /><Relationship Type="http://schemas.openxmlformats.org/officeDocument/2006/relationships/slideLayout" Target="/ppt/slideLayouts/slideLayout2.xml" Id="R010e543d3a744b5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4C87EE2-299C-401E-88B8-F3079A992F1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516c4441324230"/>
    <p:sldLayoutId xmlns:r="http://schemas.openxmlformats.org/officeDocument/2006/relationships" id="2147483650" r:id="R010e543d3a744b5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33638ca018455f" /><Relationship Type="http://schemas.openxmlformats.org/officeDocument/2006/relationships/image" Target="/ppt/media/image.png" Id="Rfc649c6e5df341f1" /><Relationship Type="http://schemas.openxmlformats.org/officeDocument/2006/relationships/notesSlide" Target="/ppt/notesSlides/notesSlide1.xml" Id="R71af06c0b98247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85067d712e44bf" /><Relationship Type="http://schemas.openxmlformats.org/officeDocument/2006/relationships/notesSlide" Target="/ppt/notesSlides/notesSlide2.xml" Id="R7b3eea7533c849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baea62f01f4e93" /><Relationship Type="http://schemas.openxmlformats.org/officeDocument/2006/relationships/image" Target="/ppt/media/image2.png" Id="Rbe12280945124e90" /><Relationship Type="http://schemas.openxmlformats.org/officeDocument/2006/relationships/notesSlide" Target="/ppt/notesSlides/notesSlide3.xml" Id="R233bcee903a246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10bff411094fbe" /><Relationship Type="http://schemas.openxmlformats.org/officeDocument/2006/relationships/notesSlide" Target="/ppt/notesSlides/notesSlide4.xml" Id="Raffdd4462c194a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3b0e5f591b455f" /><Relationship Type="http://schemas.openxmlformats.org/officeDocument/2006/relationships/notesSlide" Target="/ppt/notesSlides/notesSlide5.xml" Id="R978a436abd0c4b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9fb48fb6fc4475" /><Relationship Type="http://schemas.openxmlformats.org/officeDocument/2006/relationships/notesSlide" Target="/ppt/notesSlides/notesSlide6.xml" Id="R2fdfe0259e7743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ec3be2292b4ae4" /><Relationship Type="http://schemas.openxmlformats.org/officeDocument/2006/relationships/notesSlide" Target="/ppt/notesSlides/notesSlide7.xml" Id="R123e92c2d2db4b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b64f8fa2f5485a" /><Relationship Type="http://schemas.openxmlformats.org/officeDocument/2006/relationships/notesSlide" Target="/ppt/notesSlides/notesSlide8.xml" Id="Rc2d96290d6bd4b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c27bba3dcd482c" /><Relationship Type="http://schemas.openxmlformats.org/officeDocument/2006/relationships/image" Target="/ppt/media/image3.png" Id="R409eb26f46b644f9" /><Relationship Type="http://schemas.openxmlformats.org/officeDocument/2006/relationships/notesSlide" Target="/ppt/notesSlides/notesSlide9.xml" Id="R9dba3164d5c54e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f826f90a194034" /><Relationship Type="http://schemas.openxmlformats.org/officeDocument/2006/relationships/notesSlide" Target="/ppt/notesSlides/notesSlide10.xml" Id="R2ac02c347e454d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20e29dfdea4eae" /><Relationship Type="http://schemas.openxmlformats.org/officeDocument/2006/relationships/notesSlide" Target="/ppt/notesSlides/notesSlide11.xml" Id="R2bfbb18a2f2242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d72cccf6424a14" /><Relationship Type="http://schemas.openxmlformats.org/officeDocument/2006/relationships/image" Target="/ppt/media/image2.png" Id="R29f2e406a9e54cf4" /><Relationship Type="http://schemas.openxmlformats.org/officeDocument/2006/relationships/notesSlide" Target="/ppt/notesSlides/notesSlide12.xml" Id="Rd12c28c85a154ce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49c6e5df341f1"/>
          <a:srcRect xmlns:a="http://schemas.openxmlformats.org/drawingml/2006/main" l="0" t="25" r="0" b="25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55B0B18-8DB3-4D7D-9A3A-D5C5640D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3776"/>
            <a:ext cx="21945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포스코증권</a:t>
            </a:r>
            <a:endParaRPr sz="18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2439BF7-9A36-4197-ADF0-FEE651E4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960120"/>
            <a:ext cx="256032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61"/>
          </a:solidFill>
          <a:ln xmlns:a="http://schemas.openxmlformats.org/drawingml/2006/main">
            <a:solidFill>
              <a:srgbClr val="153B61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EAF5FF"/>
                </a:solidFill>
                <a:latin typeface="Malgun Gothic"/>
                <a:ea typeface="Malgun Gothic"/>
                <a:cs typeface="Malgun Gothic"/>
              </a:rPr>
              <a:t>가상 증권사 브랜드 · 모의투자 서비스</a:t>
            </a:r>
            <a:endParaRPr sz="82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C43741A-065B-4990-B174-B87143AD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585216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>
              <a:alpha val="92000"/>
            </a:srgbClr>
          </a:solidFill>
          <a:ln xmlns:a="http://schemas.openxmlformats.org/drawingml/2006/main">
            <a:solidFill>
              <a:srgbClr val="0B1F33">
                <a:alpha val="0"/>
              </a:srgbClr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웹 트레이딩 시스템</a:t>
            </a:r>
            <a:endParaRPr sz="3200"/>
          </a:p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개인 프로젝트 기획서</a:t>
            </a:r>
            <a:endParaRPr sz="3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9F61701-A8C0-4B27-B7D7-6D9DBA06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CFE6FF"/>
                </a:solidFill>
                <a:latin typeface="Malgun Gothic"/>
                <a:ea typeface="Malgun Gothic"/>
                <a:cs typeface="Malgun Gothic"/>
              </a:rPr>
              <a:t>React + Vite 기반 멀티자산 모의거래 플랫폼</a:t>
            </a:r>
            <a:endParaRPr sz="14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8399196-CB8D-46FF-A5F3-2D1F5056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48463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12700">
            <a:solidFill>
              <a:srgbClr val="315B82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20" b="1">
                <a:solidFill>
                  <a:srgbClr val="CFE6FF"/>
                </a:solidFill>
                <a:latin typeface="Malgun Gothic"/>
                <a:ea typeface="Malgun Gothic"/>
                <a:cs typeface="Malgun Gothic"/>
              </a:rPr>
              <a:t>제출용 PPT · 실제 금융거래가 아닌 학습용 시뮬레이터</a:t>
            </a:r>
            <a:endParaRPr sz="102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33D5825-27BC-4DF8-8A9B-5AA6CD43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6035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POSCO Securities Simulator · 개인 프로젝트 기획서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66259CD-7E1B-4AC5-BA5E-2ED74F32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7376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01</a:t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D4D36E1-8AA3-443D-9AD9-0A93FB20C02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7263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0B1A34E-5003-47D6-983D-A3D69A4C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498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  <a:endParaRPr sz="2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8946339-922E-4C22-B0E7-FAC33539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7724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실제 시세와 저장 데이터를 함께 사용하는 모의투자 웹 서비스</a:t>
            </a:r>
            <a:endParaRPr sz="9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505391B-FA5B-4E7C-A519-BE2A8FEA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3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8ACD0AD-58C8-49A8-A677-F5112F45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프로젝트명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5CD5573-2CCF-453F-94FB-D8535A0C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82496"/>
            <a:ext cx="4114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포스코증권 웹 트레이딩 시스템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7DC3ED3-FAC6-4950-8D24-4360C874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30552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가상 브랜드 / 개인 프로젝트</a:t>
            </a:r>
            <a:endParaRPr sz="72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FA0F68C-1BCD-4F50-A8BD-4E15DFBB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개발 방식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F2F218D-B004-46DF-B3BF-A9129E09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682496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50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72CE"/>
                </a:solidFill>
                <a:latin typeface="Malgun Gothic"/>
                <a:ea typeface="Malgun Gothic"/>
                <a:cs typeface="Malgun Gothic"/>
              </a:rPr>
              <a:t>React + Vite + Express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86EFE8D-CF96-4310-AC18-8E8A70B2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130552"/>
            <a:ext cx="2194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프론트</a:t>
            </a:r>
            <a:r>
              <a:rPr sz="72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·API </a:t>
            </a:r>
            <a:r>
              <a:rPr sz="72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서버 분리</a:t>
            </a:r>
            <a:endParaRPr sz="7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7FCE77-98A0-46D8-9353-21FBD57A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41732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시작 자금</a:t>
            </a:r>
            <a:endParaRPr sz="8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C670F43-31D3-420C-BA95-C80A1A8A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682496"/>
            <a:ext cx="2286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A676"/>
                </a:solidFill>
                <a:latin typeface="Malgun Gothic"/>
                <a:ea typeface="Malgun Gothic"/>
                <a:cs typeface="Malgun Gothic"/>
              </a:rPr>
              <a:t>10,000,000원</a:t>
            </a:r>
            <a:endParaRPr sz="1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26896E6-4127-4F68-B60C-5AC509DA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130552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모의 계좌</a:t>
            </a:r>
            <a:endParaRPr sz="72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3A7AA5F-8EE9-43A2-9190-67A38252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417320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현물 종목</a:t>
            </a:r>
            <a:endParaRPr sz="8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F87CCD4-7A1E-420D-A6F6-456187A2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4800" y="1682496"/>
            <a:ext cx="1280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E5484D"/>
                </a:solidFill>
                <a:latin typeface="Malgun Gothic"/>
                <a:ea typeface="Malgun Gothic"/>
                <a:cs typeface="Malgun Gothic"/>
              </a:rPr>
              <a:t>68</a:t>
            </a:r>
            <a:r>
              <a:rPr sz="1800" b="1">
                <a:solidFill>
                  <a:srgbClr val="E5484D"/>
                </a:solidFill>
                <a:latin typeface="Malgun Gothic"/>
                <a:ea typeface="Malgun Gothic"/>
                <a:cs typeface="Malgun Gothic"/>
              </a:rPr>
              <a:t>개</a:t>
            </a:r>
            <a:endParaRPr sz="1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7FD3D25-B6A0-41F5-8D8F-CE35CD18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30552"/>
            <a:ext cx="1280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확장 완료</a:t>
            </a:r>
            <a:endParaRPr sz="7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4BC596B-A358-4180-B8FE-3DCF6660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8920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핵심 콘셉트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AE9E607-EA2D-45CC-B3B1-FC1CC438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6392"/>
            <a:ext cx="5486400" cy="23042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주식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선물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채권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디지털자산을 한 화면에서 조회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한국투자증권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API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시세와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SQLite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저장 데이터 연동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종목명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종목코드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시장명 통합 검색과 주문 기능 구현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장 마감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서버 재시작 후에도 최근 데이터로 즉시 화면 표시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6B8E5A7-B27D-40DC-9BA9-41AC2D28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2384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0072C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F68258E-F061-4113-92D6-D18AEC72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60520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0072CE"/>
            </a:solidFill>
            <a:prstDash val="solid"/>
            <a:headEnd type="none"/>
            <a:tailEnd type="triangle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5E2A5E1-007B-4483-BD93-813D6D22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364992"/>
            <a:ext cx="13716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>
            <a:solidFill>
              <a:srgbClr val="D8E3EE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시장 데이터</a:t>
            </a:r>
          </a:p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실시간</a:t>
            </a:r>
            <a:r>
              <a:rPr sz="102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2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저장 시세</a:t>
            </a:r>
            <a:endParaRPr sz="102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A9CC33A-B884-465A-AE45-A85A3C6F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364992"/>
            <a:ext cx="13716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>
            <a:solidFill>
              <a:srgbClr val="D8E3EE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E5484D"/>
                </a:solidFill>
                <a:latin typeface="Malgun Gothic"/>
                <a:ea typeface="Malgun Gothic"/>
                <a:cs typeface="Malgun Gothic"/>
              </a:rPr>
              <a:t>주문 실행</a:t>
            </a:r>
          </a:p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E5484D"/>
                </a:solidFill>
                <a:latin typeface="Malgun Gothic"/>
                <a:ea typeface="Malgun Gothic"/>
                <a:cs typeface="Malgun Gothic"/>
              </a:rPr>
              <a:t>BUY / SELL</a:t>
            </a:r>
            <a:endParaRPr sz="10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B8309A8-3F75-45AB-B9D4-C0C464DE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3364992"/>
            <a:ext cx="13716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>
            <a:solidFill>
              <a:srgbClr val="D8E3EE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00A676"/>
                </a:solidFill>
                <a:latin typeface="Malgun Gothic"/>
                <a:ea typeface="Malgun Gothic"/>
                <a:cs typeface="Malgun Gothic"/>
              </a:rPr>
              <a:t>계좌</a:t>
            </a:r>
            <a:r>
              <a:rPr sz="1020" b="1">
                <a:solidFill>
                  <a:srgbClr val="00A676"/>
                </a:solidFill>
                <a:latin typeface="Malgun Gothic"/>
                <a:ea typeface="Malgun Gothic"/>
                <a:cs typeface="Malgun Gothic"/>
              </a:rPr>
              <a:t>·DB </a:t>
            </a:r>
            <a:r>
              <a:rPr sz="1020" b="1">
                <a:solidFill>
                  <a:srgbClr val="00A676"/>
                </a:solidFill>
                <a:latin typeface="Malgun Gothic"/>
                <a:ea typeface="Malgun Gothic"/>
                <a:cs typeface="Malgun Gothic"/>
              </a:rPr>
              <a:t>반영</a:t>
            </a:r>
          </a:p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00A676"/>
                </a:solidFill>
                <a:latin typeface="Malgun Gothic"/>
                <a:ea typeface="Malgun Gothic"/>
                <a:cs typeface="Malgun Gothic"/>
              </a:rPr>
              <a:t>자산</a:t>
            </a:r>
            <a:r>
              <a:rPr sz="1020" b="1">
                <a:solidFill>
                  <a:srgbClr val="00A676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20" b="1">
                <a:solidFill>
                  <a:srgbClr val="00A676"/>
                </a:solidFill>
                <a:latin typeface="Malgun Gothic"/>
                <a:ea typeface="Malgun Gothic"/>
                <a:cs typeface="Malgun Gothic"/>
              </a:rPr>
              <a:t>손익</a:t>
            </a:r>
            <a:endParaRPr sz="102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972A980-F5C8-4340-9003-18530E80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709160"/>
            <a:ext cx="4663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완료</a:t>
            </a: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저장 데이터를 먼저 보여주고 최신 시세가 도착하면 화면이 자연스럽게 갱신되는 서비스 흐름 구현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44F2659-51FB-415C-BC03-64213618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6035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POSCO Securities Simulator · 개인 프로젝트 기획서</a:t>
            </a:r>
            <a:endParaRPr sz="7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CFE5534-9F61-46BB-A1D0-2630FEF6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7376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02</a:t>
            </a:r>
            <a:endParaRPr sz="800"/>
          </a:p>
        </p:txBody>
      </p:sp>
      <p:sp>
        <p:nvSpPr>
          <p:cNvPr id="2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66EE565-32AE-4AEB-B4D0-4B7A481293F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824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6556E1-0173-4452-A922-988ECD2D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498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문제 정의와 해결 결과</a:t>
            </a:r>
            <a:endParaRPr sz="2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83DC42-DFC7-4A7E-A94B-A524064F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7724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느린 초기 화면</a:t>
            </a: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장 마감 데이터</a:t>
            </a: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검색 정확도를 함께 개선</a:t>
            </a:r>
            <a:endParaRPr sz="9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7E7C9E4-5367-4E0B-9192-3145F583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3EE"/>
            </a:solidFill>
            <a:prstDash val="solid"/>
          </a:ln>
        </p:spPr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2280945124e90"/>
          <a:srcRect xmlns:a="http://schemas.openxmlformats.org/drawingml/2006/main" l="8000" t="0" r="35720" b="0"/>
          <a:stretch xmlns:a="http://schemas.openxmlformats.org/drawingml/2006/main"/>
        </p:blipFill>
        <p:spPr>
          <a:xfrm xmlns:a="http://schemas.openxmlformats.org/drawingml/2006/main">
            <a:off x="594360" y="1417320"/>
            <a:ext cx="4251960" cy="4251960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E2A54BF-0D78-4490-8C10-DCD02133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417320"/>
            <a:ext cx="1143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12700">
            <a:solidFill>
              <a:srgbClr val="EAF5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072CE"/>
                </a:solidFill>
                <a:latin typeface="Malgun Gothic"/>
                <a:ea typeface="Malgun Gothic"/>
                <a:cs typeface="Malgun Gothic"/>
              </a:rPr>
              <a:t>기존 문제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74B3358-5EF5-4BF5-9747-4BA09FEF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74520"/>
            <a:ext cx="60350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API </a:t>
            </a:r>
            <a:r>
              <a:rPr sz="13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응답 전 빈 화면이 길고</a:t>
            </a:r>
            <a:r>
              <a:rPr sz="13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장이 닫히면 차트가 비며</a:t>
            </a:r>
            <a:r>
              <a:rPr sz="13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검색 결과가 이름 일부 기준으로 잘못 노출</a:t>
            </a:r>
            <a:endParaRPr sz="13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CF1457F-E9FC-4CD9-B1DB-6B8C19EA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8920"/>
            <a:ext cx="12344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F1"/>
          </a:solidFill>
          <a:ln xmlns:a="http://schemas.openxmlformats.org/drawingml/2006/main" w="12700">
            <a:solidFill>
              <a:srgbClr val="E9F8F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0A676"/>
                </a:solidFill>
                <a:latin typeface="Malgun Gothic"/>
                <a:ea typeface="Malgun Gothic"/>
                <a:cs typeface="Malgun Gothic"/>
              </a:rPr>
              <a:t>해결 방식</a:t>
            </a:r>
            <a:endParaRPr sz="11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D5E51A7-4573-4454-8783-D44FD475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46120"/>
            <a:ext cx="60350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SQLite</a:t>
            </a:r>
            <a:r>
              <a:rPr sz="13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에 시세</a:t>
            </a:r>
            <a:r>
              <a:rPr sz="13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3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차트를 영속 저장하고 브라우저 캐시를 선표시한 뒤 </a:t>
            </a:r>
            <a:r>
              <a:rPr sz="13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API </a:t>
            </a:r>
            <a:r>
              <a:rPr sz="13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결과로 </a:t>
            </a:r>
            <a:r>
              <a:rPr sz="13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재검증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B6542D4-DA1A-4B86-A4E3-26AB2A42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51960"/>
            <a:ext cx="12344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5"/>
          </a:solidFill>
          <a:ln xmlns:a="http://schemas.openxmlformats.org/drawingml/2006/main" w="12700">
            <a:solidFill>
              <a:srgbClr val="FFF5E5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완료 결과</a:t>
            </a:r>
            <a:endParaRPr sz="1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1846746-DA14-4960-9D2F-87AAF8E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09160"/>
            <a:ext cx="60350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·5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일봉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즉시 표시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서버 재시작 후 데이터 유지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종목명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정확한 코드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시장명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검색</a:t>
            </a:r>
            <a:endParaRPr sz="13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8FF2835-9E35-4D28-8035-12328A8F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6035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POSCO Securities Simulator · 개인 프로젝트 기획서</a:t>
            </a:r>
            <a:endParaRPr sz="7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CCB309F-129F-4FBC-AA7F-92448BB3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7376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03</a:t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C9FC534-B02B-4379-872B-C33253A9EEC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267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AA23B98-181F-4E76-8E68-63AED35D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498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상품 구성과 검색 범위</a:t>
            </a:r>
            <a:endParaRPr sz="2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7E2A7DE-6CC1-4C7B-BC7F-C833740F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7724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68</a:t>
            </a: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개 현물 종목과 멀티자산을 하나의 검색 흐름으로 통합</a:t>
            </a:r>
            <a:endParaRPr sz="9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B2A204A-A68D-445A-B845-27C641C0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3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033D45A-CEFD-412E-B1B2-ABB7AD7F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상품별 데이터 수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E3EDE2C-50B4-4264-B7A0-F0B608B9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현물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1663985-042D-45E2-8F9E-1A313CB3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901952"/>
            <a:ext cx="406908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12700">
            <a:solidFill>
              <a:srgbClr val="E5484D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6699F48-D8E2-478A-96EA-2B375159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856232"/>
            <a:ext cx="640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E5484D"/>
                </a:solidFill>
                <a:latin typeface="Malgun Gothic"/>
                <a:ea typeface="Malgun Gothic"/>
                <a:cs typeface="Malgun Gothic"/>
              </a:rPr>
              <a:t>68</a:t>
            </a:r>
            <a:r>
              <a:rPr sz="1050" b="1">
                <a:solidFill>
                  <a:srgbClr val="E5484D"/>
                </a:solidFill>
                <a:latin typeface="Malgun Gothic"/>
                <a:ea typeface="Malgun Gothic"/>
                <a:cs typeface="Malgun Gothic"/>
              </a:rPr>
              <a:t>개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78F1B93-0BCF-47E6-A044-E9A0680C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60904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선물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027E8DD-FFF4-4AC6-AC8B-DD2982A2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688336"/>
            <a:ext cx="322943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CE"/>
          </a:solidFill>
          <a:ln xmlns:a="http://schemas.openxmlformats.org/drawingml/2006/main" w="12700">
            <a:solidFill>
              <a:srgbClr val="0072C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7CA75C-1427-45A3-B137-737D7C63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642616"/>
            <a:ext cx="640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72CE"/>
                </a:solidFill>
                <a:latin typeface="Malgun Gothic"/>
                <a:ea typeface="Malgun Gothic"/>
                <a:cs typeface="Malgun Gothic"/>
              </a:rPr>
              <a:t>5개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B296538-BF5A-4B2D-82EE-0FE01717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47288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채권</a:t>
            </a:r>
            <a:endParaRPr sz="10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675378B-048F-4AFF-B494-581ECC52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474720"/>
            <a:ext cx="322943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12700">
            <a:solidFill>
              <a:srgbClr val="00A67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7A06A03-9741-4117-B8FC-1BB3444E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429000"/>
            <a:ext cx="640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A676"/>
                </a:solidFill>
                <a:latin typeface="Malgun Gothic"/>
                <a:ea typeface="Malgun Gothic"/>
                <a:cs typeface="Malgun Gothic"/>
              </a:rPr>
              <a:t>5개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9C4FC73-9AF5-4DBC-A8E9-8F311671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33672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디지털자산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DE4FC7E-F017-4681-98D7-BC758278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261104"/>
            <a:ext cx="258354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A5F6C72-0DAA-4327-98C6-937F3657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215384"/>
            <a:ext cx="640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4개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05584BA-E66E-438E-8558-32B28F96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5212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포스코 계열사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E6CD780-B1AE-4ACB-8075-500E8B7B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96712"/>
            <a:ext cx="5212080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0" rIns="254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POSCO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홀딩스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포스코퓨처엠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포스코인터내셔널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포스코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DX ·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포스코스틸리온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포스코엠텍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CC70AA0-E338-4FE1-8B55-B86A53AF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32704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E5484D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E791BD4-BB9F-4F99-8A6F-659D508A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417320"/>
            <a:ext cx="4297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통합 검색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EF6DC46-FA40-4C6A-9567-D8D79504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764792"/>
            <a:ext cx="4297680" cy="1572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한글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영문 종목명과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6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자리 종목코드 검색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코드 검색은 정확 일치와 앞자리 일치를 우선 정렬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KOSPI·KOSDAQ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등 시장명 검색 지원</a:t>
            </a:r>
            <a:endParaRPr sz="10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2AC9C10-7282-4ACE-846C-A4128FFF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700784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0072CE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7E361D6-30DC-4A65-A3A6-2CF5E6E1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794760"/>
            <a:ext cx="4297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표시</a:t>
            </a:r>
            <a:r>
              <a:rPr sz="1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저장 방식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CBFCD0A-E50A-403A-8495-1BB368B5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142232"/>
            <a:ext cx="4297680" cy="1572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NASDAQ / NYSE / KOSPI / KOSDAQ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시장 표기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달러 종목은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$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가격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계좌는 원화 환산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최근 시세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차트를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SQLite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에 기간별 저장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종목 수가 많아도 검색과 내부 스크롤로 탐색</a:t>
            </a:r>
            <a:endParaRPr sz="10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642CF89-DA7B-44C0-966C-8350F28A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078224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00A676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EBEEE46-BD25-49AD-942A-2708257A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6035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POSCO Securities Simulator · 개인 프로젝트 기획서</a:t>
            </a:r>
            <a:endParaRPr sz="7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E5291AE-4238-4400-83CC-EBC4D3BE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7376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04</a:t>
            </a:r>
            <a:endParaRPr sz="800"/>
          </a:p>
        </p:txBody>
      </p:sp>
      <p:sp>
        <p:nvSpPr>
          <p:cNvPr id="29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C551B1D-0850-40D8-AF52-4C1FDB71CB9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83790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B650C7E-FE12-43FA-BCD9-47B39063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498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현재 화면 구성</a:t>
            </a:r>
            <a:endParaRPr sz="2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E2131F0-576F-441A-82C5-E04ED622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7724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완성된 웹 트레이딩 화면의 주요 영역</a:t>
            </a:r>
            <a:endParaRPr sz="9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C72F941-FC5B-4901-91C1-98C2E99C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3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F1165C1-4109-42A5-9B05-EACC92AB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13716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solidFill>
              <a:srgbClr val="0B1F33"/>
            </a:solidFill>
          </a:ln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포스코증권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397D55C-1953-4304-8311-337F097F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417320"/>
            <a:ext cx="905256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</a:ln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DCEBFA"/>
                </a:solidFill>
                <a:latin typeface="Malgun Gothic"/>
                <a:ea typeface="Malgun Gothic"/>
                <a:cs typeface="Malgun Gothic"/>
              </a:rPr>
              <a:t>트레이딩   자산현황   투자정보   상품   뱅킹</a:t>
            </a:r>
            <a:r>
              <a:rPr sz="1000" b="1">
                <a:solidFill>
                  <a:srgbClr val="DCEBFA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1">
                <a:solidFill>
                  <a:srgbClr val="DCEBFA"/>
                </a:solidFill>
                <a:latin typeface="Malgun Gothic"/>
                <a:ea typeface="Malgun Gothic"/>
                <a:cs typeface="Malgun Gothic"/>
              </a:rPr>
              <a:t>업무</a:t>
            </a:r>
            <a:endParaRPr sz="1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2DEA87-4133-412C-8386-D588D4C5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83664"/>
            <a:ext cx="1044244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계좌 요약</a:t>
            </a:r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총 평가자산 </a:t>
            </a:r>
            <a:r>
              <a:rPr sz="11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sz="11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주문가능금액 </a:t>
            </a:r>
            <a:r>
              <a:rPr sz="11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sz="11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평가손익 </a:t>
            </a:r>
            <a:r>
              <a:rPr sz="11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sz="11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수익률</a:t>
            </a:r>
            <a:endParaRPr sz="11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9E35374-24BF-4533-B73F-74AD1DBE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9748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종목 목록 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통합 검색</a:t>
            </a:r>
            <a:endParaRPr sz="11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ctr">
              <a:buNone/>
            </a:pPr>
            <a:endParaRPr sz="11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종목명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종목코드 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시장명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멀티자산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CD59E6-5FAA-405B-88A0-89FA0F5A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2697480"/>
            <a:ext cx="274320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선택 종목 상세</a:t>
            </a:r>
            <a:endParaRPr sz="11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ctr">
              <a:buNone/>
            </a:pPr>
            <a:endParaRPr sz="11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·5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일봉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 차트 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현재가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등락률 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시장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828DDC9-65C7-4B40-8581-C879A638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697480"/>
            <a:ext cx="242316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8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주문창</a:t>
            </a:r>
            <a:endParaRPr sz="11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ctr">
              <a:buNone/>
            </a:pP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BUY / SELL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LONG / SHORT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수량 입력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28D9490-FE38-422F-B9B4-76C64D1D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697480"/>
            <a:ext cx="2267712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FF9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보유자산·거래내역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평균단가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평가손익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체결 기록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433DDEE-BDA5-449B-9092-F18F75CF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742432"/>
            <a:ext cx="146304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>
            <a:solidFill>
              <a:srgbClr val="EAF5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072CE"/>
                </a:solidFill>
                <a:latin typeface="Malgun Gothic"/>
                <a:ea typeface="Malgun Gothic"/>
                <a:cs typeface="Malgun Gothic"/>
              </a:rPr>
              <a:t>실제 증권사 느낌</a:t>
            </a:r>
            <a:endParaRPr sz="8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D1D80F3-4AB7-4F9F-9ABC-BDA1DCD0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5779008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상승</a:t>
            </a:r>
            <a:r>
              <a:rPr sz="11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=</a:t>
            </a:r>
            <a:r>
              <a:rPr sz="11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빨강 </a:t>
            </a:r>
            <a:r>
              <a:rPr sz="11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sz="11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하락</a:t>
            </a:r>
            <a:r>
              <a:rPr sz="11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=</a:t>
            </a:r>
            <a:r>
              <a:rPr sz="11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파랑 </a:t>
            </a:r>
            <a:r>
              <a:rPr sz="11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저장값 선표시 </a:t>
            </a:r>
            <a:r>
              <a:rPr sz="11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최신 데이터 도착 시 자동 갱신</a:t>
            </a:r>
            <a:endParaRPr sz="112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40FB757-48C2-466E-91A9-CB3C66D4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6035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POSCO Securities Simulator · 개인 프로젝트 기획서</a:t>
            </a:r>
            <a:endParaRPr sz="7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2763F35-E68C-41C0-8BE3-76ED86A2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7376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05</a:t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D08F208-6341-4108-9DC7-2B5438097C4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23420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A0F9868-5465-4605-B4B4-0E5192F9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498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완성된 주요 기능</a:t>
            </a:r>
            <a:endParaRPr sz="2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D0AACD8-9CDA-4B56-B258-BAA631D8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7724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실시간 데이터</a:t>
            </a: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영속 저장</a:t>
            </a: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사용자 행동을 하나의 화면 흐름으로 연결</a:t>
            </a:r>
            <a:endParaRPr sz="9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AD7E98F-6398-4318-AA01-A7894944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3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B279B7B-EDB6-4E75-A3D0-EA0A35E6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08760"/>
            <a:ext cx="32461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통합 검색</a:t>
            </a: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l">
              <a:buNone/>
            </a:pP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l">
              <a:buNone/>
            </a:pP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종목명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정확한 종목코드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시장명으로 결과 정렬</a:t>
            </a:r>
            <a:endParaRPr sz="1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564FC0-0817-45F9-A31F-F4DE3A6D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18488"/>
            <a:ext cx="0" cy="1170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0640">
            <a:solidFill>
              <a:srgbClr val="0072C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434D584-76F7-49C7-B5EE-3DD0CD6E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1" y="1664208"/>
            <a:ext cx="41148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F"/>
          </a:solidFill>
          <a:ln xmlns:a="http://schemas.openxmlformats.org/drawingml/2006/main">
            <a:solidFill>
              <a:srgbClr val="F3F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072CE"/>
                </a:solidFill>
                <a:latin typeface="Malgun Gothic"/>
                <a:ea typeface="Malgun Gothic"/>
                <a:cs typeface="Malgun Gothic"/>
              </a:rPr>
              <a:t>01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1099394-7D90-4C59-84A0-1D3D4774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508760"/>
            <a:ext cx="32461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실시간 시세</a:t>
            </a: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ctr">
              <a:buNone/>
            </a:pP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l">
              <a:buNone/>
            </a:pP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한국투자증권 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API 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응답으로 현재가와 등락 갱신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0588A60-4EC8-49CB-81CB-2A39B6DA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618488"/>
            <a:ext cx="0" cy="1170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0640">
            <a:solidFill>
              <a:srgbClr val="00A676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A42364A-E5E2-4848-AE82-D47789E6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39" y="1664208"/>
            <a:ext cx="41148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F"/>
          </a:solidFill>
          <a:ln xmlns:a="http://schemas.openxmlformats.org/drawingml/2006/main">
            <a:solidFill>
              <a:srgbClr val="F3F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0A676"/>
                </a:solidFill>
                <a:latin typeface="Malgun Gothic"/>
                <a:ea typeface="Malgun Gothic"/>
                <a:cs typeface="Malgun Gothic"/>
              </a:rPr>
              <a:t>02</a:t>
            </a:r>
            <a:endParaRPr sz="8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621ABBB-47D6-43E5-AF8E-1D74D946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508760"/>
            <a:ext cx="32461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영속 데이터</a:t>
            </a: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l">
              <a:buNone/>
            </a:pP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l">
              <a:buNone/>
            </a:pP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SQLite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에 시세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·1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·5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일봉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 차트를 저장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40F87AA-2ACA-4E22-A3C7-4E3904B4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618488"/>
            <a:ext cx="0" cy="1170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0640">
            <a:solidFill>
              <a:srgbClr val="E5484D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90AC8D2-E146-4A57-9493-5A7E0675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197" y="1664208"/>
            <a:ext cx="41148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F"/>
          </a:solidFill>
          <a:ln xmlns:a="http://schemas.openxmlformats.org/drawingml/2006/main">
            <a:solidFill>
              <a:srgbClr val="F3F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E5484D"/>
                </a:solidFill>
                <a:latin typeface="Malgun Gothic"/>
                <a:ea typeface="Malgun Gothic"/>
                <a:cs typeface="Malgun Gothic"/>
              </a:rPr>
              <a:t>03</a:t>
            </a:r>
            <a:endParaRPr sz="8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B0474A0-FFC1-423F-8445-71DB9F03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0"/>
            <a:ext cx="32461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빠른 초기 화면</a:t>
            </a: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l">
              <a:buNone/>
            </a:pP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l">
              <a:buNone/>
            </a:pP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브라우저 캐시를 먼저 표시하고 백그라운드 갱신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70E11A5-CFC2-4D6F-AB90-2042AF22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67328"/>
            <a:ext cx="0" cy="1170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0640">
            <a:solidFill>
              <a:srgbClr val="6D5DF7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EFE1D3F-4803-4B2F-909B-29F65894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1" y="3803904"/>
            <a:ext cx="41148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F"/>
          </a:solidFill>
          <a:ln xmlns:a="http://schemas.openxmlformats.org/drawingml/2006/main">
            <a:solidFill>
              <a:srgbClr val="F3F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6D5DF7"/>
                </a:solidFill>
                <a:latin typeface="Malgun Gothic"/>
                <a:ea typeface="Malgun Gothic"/>
                <a:cs typeface="Malgun Gothic"/>
              </a:rPr>
              <a:t>04</a:t>
            </a:r>
            <a:endParaRPr sz="8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81B3EE3-0F79-432D-8668-CA78FD47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657600"/>
            <a:ext cx="32461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주문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자산</a:t>
            </a: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l">
              <a:buNone/>
            </a:pP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l">
              <a:buNone/>
            </a:pP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현금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보유수량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평균단가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평가손익 자동 계산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A9E724B-0445-42CA-BF60-060BFD85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767328"/>
            <a:ext cx="0" cy="1170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0640">
            <a:solidFill>
              <a:srgbClr val="F59E0B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33EA442-4E4E-4E91-A2A9-7DFBEF32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39" y="3803904"/>
            <a:ext cx="41148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F"/>
          </a:solidFill>
          <a:ln xmlns:a="http://schemas.openxmlformats.org/drawingml/2006/main">
            <a:solidFill>
              <a:srgbClr val="F3F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05</a:t>
            </a:r>
            <a:endParaRPr sz="8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B949311-0521-475C-81D3-ABC87B6D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57600"/>
            <a:ext cx="32461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거래 기록</a:t>
            </a: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l">
              <a:buNone/>
            </a:pP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l">
              <a:buNone/>
            </a:pPr>
            <a:endParaRPr sz="1200" b="1">
              <a:solidFill>
                <a:srgbClr val="1523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매수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매도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 b="1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청산 내역을 체결내역으로 표시</a:t>
            </a:r>
            <a:endParaRPr sz="12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ADC0E71-6824-445F-9E12-82E3284C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767328"/>
            <a:ext cx="0" cy="1170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0640">
            <a:solidFill>
              <a:srgbClr val="0B1F33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ADFE6CE-88B4-4897-A370-5B1E01C5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79" y="3803904"/>
            <a:ext cx="41148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F"/>
          </a:solidFill>
          <a:ln xmlns:a="http://schemas.openxmlformats.org/drawingml/2006/main">
            <a:solidFill>
              <a:srgbClr val="F3F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06</a:t>
            </a:r>
            <a:endParaRPr sz="8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82786F1-2E71-48E8-B12E-5D34926B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97880"/>
            <a:ext cx="107442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</a:t>
            </a: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장 마감이나 </a:t>
            </a: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API </a:t>
            </a: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지연에도 이전 데이터를 즉시 보여주고 최신 값으로 자연스럽게 교체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6D634B3-097E-4393-BD50-7F23EB16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6035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POSCO Securities Simulator · 개인 프로젝트 기획서</a:t>
            </a:r>
            <a:endParaRPr sz="7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FCE7EE8-CE57-495C-AE13-1423128C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7376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06</a:t>
            </a:r>
            <a:endParaRPr sz="800"/>
          </a:p>
        </p:txBody>
      </p:sp>
      <p:sp>
        <p:nvSpPr>
          <p:cNvPr id="2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F106949-1948-440E-9E3E-9A09DC6E5FD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32673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7ADA9D8-5688-4D72-B8C1-FE41AD79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498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데이터 로딩과 갱신 흐름</a:t>
            </a:r>
            <a:endParaRPr sz="2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ACB252-1A46-4F50-B1C4-77EE6BB0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7724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저장값을 먼저 보여준 뒤 서버 데이터로 재검증하는 단계적 로딩</a:t>
            </a:r>
            <a:endParaRPr sz="9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B1572F2-1E7F-4304-8D19-4DFACC1A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3E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2EE3924-73DF-445F-B56E-AC97256E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9718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0072CE"/>
            </a:solidFill>
            <a:prstDash val="solid"/>
            <a:headEnd type="none"/>
            <a:tailEnd type="triangle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E737760-881A-4ED9-9070-4BFB6E9B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9718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0072CE"/>
            </a:solidFill>
            <a:prstDash val="solid"/>
            <a:headEnd type="none"/>
            <a:tailEnd type="triangle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9164F61-5F38-4D7D-B288-9CDDEF66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718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0072CE"/>
            </a:solidFill>
            <a:prstDash val="solid"/>
            <a:headEnd type="none"/>
            <a:tailEnd type="triangle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91C44BD-683B-4F9C-BC74-ECF5BC23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9718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0072CE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A80DA22-2483-4517-AF58-743380C4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29718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0072CE"/>
            </a:solidFill>
            <a:prstDash val="solid"/>
            <a:headEnd type="none"/>
            <a:tailEnd type="triangle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A92F29D-73FD-4465-B2B1-BE4CFE06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14600"/>
            <a:ext cx="114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>
            <a:solidFill>
              <a:srgbClr val="D8E3EE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페이지 진입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B9D9BAF-F9D7-4089-9A87-65C2F412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514600"/>
            <a:ext cx="114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E3EE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브라우저 캐시</a:t>
            </a:r>
            <a:endParaRPr sz="102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BCCFEA5-FCBD-4FA3-AA25-1E9A45A9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514600"/>
            <a:ext cx="114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>
            <a:solidFill>
              <a:srgbClr val="D8E3EE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E5484D"/>
                </a:solidFill>
                <a:latin typeface="Malgun Gothic"/>
                <a:ea typeface="Malgun Gothic"/>
                <a:cs typeface="Malgun Gothic"/>
              </a:rPr>
              <a:t>Express API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12C56B7-4F1E-4E96-88AE-D26F0A13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14600"/>
            <a:ext cx="114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>
            <a:solidFill>
              <a:srgbClr val="D8E3EE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00A676"/>
                </a:solidFill>
                <a:latin typeface="Malgun Gothic"/>
                <a:ea typeface="Malgun Gothic"/>
                <a:cs typeface="Malgun Gothic"/>
              </a:rPr>
              <a:t>SQLite </a:t>
            </a:r>
            <a:r>
              <a:rPr sz="1020" b="1">
                <a:solidFill>
                  <a:srgbClr val="00A676"/>
                </a:solidFill>
                <a:latin typeface="Malgun Gothic"/>
                <a:ea typeface="Malgun Gothic"/>
                <a:cs typeface="Malgun Gothic"/>
              </a:rPr>
              <a:t>조회</a:t>
            </a:r>
            <a:endParaRPr sz="102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58BFD1F-7E28-4433-9BCB-936EE43E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514600"/>
            <a:ext cx="114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>
            <a:solidFill>
              <a:srgbClr val="D8E3EE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KIS </a:t>
            </a:r>
            <a:r>
              <a:rPr sz="102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최신 시세</a:t>
            </a:r>
          </a:p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조회</a:t>
            </a:r>
            <a:endParaRPr sz="102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8DD10BB-C22B-43C6-BCCC-A2DEF4BF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2514600"/>
            <a:ext cx="114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FF"/>
          </a:solidFill>
          <a:ln xmlns:a="http://schemas.openxmlformats.org/drawingml/2006/main">
            <a:solidFill>
              <a:srgbClr val="D8E3EE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6D5DF7"/>
                </a:solidFill>
                <a:latin typeface="Malgun Gothic"/>
                <a:ea typeface="Malgun Gothic"/>
                <a:cs typeface="Malgun Gothic"/>
              </a:rPr>
              <a:t>화면</a:t>
            </a:r>
            <a:r>
              <a:rPr sz="1020" b="1">
                <a:solidFill>
                  <a:srgbClr val="6D5DF7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20" b="1">
                <a:solidFill>
                  <a:srgbClr val="6D5DF7"/>
                </a:solidFill>
                <a:latin typeface="Malgun Gothic"/>
                <a:ea typeface="Malgun Gothic"/>
                <a:cs typeface="Malgun Gothic"/>
              </a:rPr>
              <a:t>캐시</a:t>
            </a:r>
            <a:r>
              <a:rPr sz="1020" b="1">
                <a:solidFill>
                  <a:srgbClr val="6D5DF7"/>
                </a:solidFill>
                <a:latin typeface="Malgun Gothic"/>
                <a:ea typeface="Malgun Gothic"/>
                <a:cs typeface="Malgun Gothic"/>
              </a:rPr>
              <a:t>·DB</a:t>
            </a:r>
          </a:p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6D5DF7"/>
                </a:solidFill>
                <a:latin typeface="Malgun Gothic"/>
                <a:ea typeface="Malgun Gothic"/>
                <a:cs typeface="Malgun Gothic"/>
              </a:rPr>
              <a:t>갱신</a:t>
            </a:r>
            <a:endParaRPr sz="102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C46BD67-4838-46FC-BF09-A061CBCA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51960"/>
            <a:ext cx="5074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초기 표시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4FF35EC-1896-4CCA-8160-CCD306F8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99432"/>
            <a:ext cx="5074920" cy="11612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브라우저에 저장된 최근 시세를 즉시 표시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캐시가 없으면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SQLite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의 최신 값을 사용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1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·5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일봉을 기간별 키로 분리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빈 화면 없이 차트와 종목 정보를 먼저 구성</a:t>
            </a:r>
            <a:endParaRPr sz="10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007F4B4-570E-4C53-9891-53813D4C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35424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E5484D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B66CB0-04AA-4986-8A8B-F6197451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251960"/>
            <a:ext cx="4983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백그라운드 갱신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0023957-E0D4-49E3-AF07-75EE8BE9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599432"/>
            <a:ext cx="4983480" cy="11612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Express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가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SQLite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저장값을 우선 응답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KIS API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최신 값이 오면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DB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에 다시 저장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React state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와 브라우저 캐시를 함께 갱신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장 마감 시 마지막 정상 데이터를 계속 사용</a:t>
            </a:r>
            <a:endParaRPr sz="10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0BF1F0F-145B-49AE-B26C-4247FB45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535424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2F6FED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94293C0-50F0-45DD-8F77-6BF74FE3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6035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POSCO Securities Simulator · 개인 프로젝트 기획서</a:t>
            </a:r>
            <a:endParaRPr sz="7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CA70D1D-CD02-469D-BF0B-73B313F5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7376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07</a:t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02338CC-2DC6-4627-A82B-3B6BF23C666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5901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A824645-A1D1-4EEC-A7B5-6B770F0F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498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기술 구조와 구현 포인트</a:t>
            </a:r>
            <a:endParaRPr sz="2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6D5766-D78E-4C92-9255-FF388098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7724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React </a:t>
            </a: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화면부터 </a:t>
            </a: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Express API</a:t>
            </a: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와 </a:t>
            </a: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SQLite </a:t>
            </a: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저장까지 연결</a:t>
            </a:r>
            <a:endParaRPr sz="9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46A28D8-5968-4AAE-B7BE-7EA98630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3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79459FF-10DD-42F2-B0A3-B7283A0C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6459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React state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4F4998-5B22-42B8-B86A-A3D8731C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1417320"/>
            <a:ext cx="45720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선택 종목</a:t>
            </a: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기간</a:t>
            </a: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보유자산</a:t>
            </a: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주문내역과 로딩 상태 관리</a:t>
            </a:r>
            <a:endParaRPr sz="102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804BF13-010D-4392-AE17-D21BA255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85416"/>
            <a:ext cx="16459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브라우저 캐시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946AF24-0AAD-4AB9-9753-D8A1335E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2185416"/>
            <a:ext cx="45720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최근 시세와 기간별 차트를 먼저 읽어 초기 화면 지연 최소화</a:t>
            </a:r>
            <a:endParaRPr sz="102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07EC400-73F2-42B4-85DF-4F6536AA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53512"/>
            <a:ext cx="16459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Express API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5619F76-1EE4-45BC-BEEE-A782904C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2953512"/>
            <a:ext cx="45720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quotes·charts·orders </a:t>
            </a: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요청을 처리하고 </a:t>
            </a: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KIS·SQLite</a:t>
            </a: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를 연결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5BD02FF-1F7B-4CF5-A731-DDEF74BE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21608"/>
            <a:ext cx="16459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SQLite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00DE2FB-E46B-46E8-BC24-F8C83804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3721608"/>
            <a:ext cx="45720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서버 재시작 후에도 시세</a:t>
            </a: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차트</a:t>
            </a: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거래 데이터를 파일 </a:t>
            </a: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DB</a:t>
            </a: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로 유지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08AB431-B45C-420A-B062-A99EB4D9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89704"/>
            <a:ext cx="16459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 정렬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5E84F12-66F4-4844-8D57-59D9DE54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4489704"/>
            <a:ext cx="45720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정확한 종목코드 → 코드 앞자리 → 이름</a:t>
            </a: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2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시장 순으로 우선순위 적용</a:t>
            </a:r>
            <a:endParaRPr sz="102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F011592-748E-47A0-B163-289CC9EE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417320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핵심 파일 구조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389F9B9-1BE1-48A6-ADEE-A541EC1C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10512"/>
            <a:ext cx="3474720" cy="2999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3"/>
          </a:solidFill>
          <a:ln xmlns:a="http://schemas.openxmlformats.org/drawingml/2006/main" w="12700">
            <a:solidFill>
              <a:srgbClr val="0F2033"/>
            </a:solidFill>
          </a:ln>
        </p:spPr>
        <p:txBody>
          <a:bodyPr xmlns:a="http://schemas.openxmlformats.org/drawingml/2006/main" wrap="square" lIns="1524" tIns="1524" rIns="1524" bIns="1524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개인홈페이지</a:t>
            </a:r>
            <a:r>
              <a:rPr sz="1100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├─ </a:t>
            </a:r>
            <a:r>
              <a:rPr sz="1100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package.json / vite.config.js</a:t>
            </a:r>
          </a:p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├─ server / API·SQLite·KIS </a:t>
            </a:r>
            <a:r>
              <a:rPr sz="1100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연동</a:t>
            </a:r>
          </a:p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└─ </a:t>
            </a:r>
            <a:r>
              <a:rPr sz="1100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src</a:t>
            </a:r>
          </a:p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   ├─ App.jsx / styles.css</a:t>
            </a:r>
          </a:p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   ├─ components / </a:t>
            </a:r>
            <a:r>
              <a:rPr sz="1100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화면 영역</a:t>
            </a:r>
          </a:p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   ├─ </a:t>
            </a:r>
            <a:r>
              <a:rPr sz="1100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data / </a:t>
            </a:r>
            <a:r>
              <a:rPr sz="1100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종목</a:t>
            </a:r>
            <a:r>
              <a:rPr sz="1100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00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시장 데이터</a:t>
            </a:r>
          </a:p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   └─ </a:t>
            </a:r>
            <a:r>
              <a:rPr sz="1100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services / API·</a:t>
            </a:r>
            <a:r>
              <a:rPr sz="1100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캐시 처리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F495C5A-67BC-4816-9B68-60017E20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074920"/>
            <a:ext cx="34747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12700">
            <a:solidFill>
              <a:srgbClr val="D8E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화면</a:t>
            </a:r>
            <a:r>
              <a:rPr sz="11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데이터</a:t>
            </a:r>
            <a:r>
              <a:rPr sz="11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서버 책임을 분리하고 주석으로 전체 동작 순서를 설명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C2C02CE-B96A-4B41-A881-0EAE3230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6035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POSCO Securities Simulator · 개인 프로젝트 기획서</a:t>
            </a:r>
            <a:endParaRPr sz="7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0F67E4E-6F4C-4188-8469-3695768B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7376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08</a:t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676B114-30A6-4E93-9D97-E35DBD02E7D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88884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eb26f46b644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325880"/>
            <a:ext cx="5257800" cy="4023360"/>
          </a:xfrm>
          <a:prstGeom xmlns:a="http://schemas.openxmlformats.org/drawingml/2006/main" prst="rect">
            <a:avLst/>
          </a:prstGeom>
        </p:spPr>
      </p:pic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ED1AB4-35B7-4D2E-9877-E726D59D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498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현재 </a:t>
            </a:r>
            <a:r>
              <a:rPr sz="2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UI</a:t>
            </a:r>
            <a:r>
              <a:rPr sz="2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와 검색 개선</a:t>
            </a:r>
            <a:endParaRPr sz="2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3422E7D-4C27-47F1-8D9E-238B2968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7724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국내 증권사형 정보 구조에 실제 동작하는 통합 검색을 결합</a:t>
            </a:r>
            <a:endParaRPr sz="9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75112C6-D86A-48BB-9F61-DE00B1FE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3EE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A121801-CCAA-446F-AFBB-6238683F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17320"/>
            <a:ext cx="5029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현재 화면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8EFE0D4-82F3-45CD-8DC3-6C84B8C3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64792"/>
            <a:ext cx="5029200" cy="97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포스코 블루 기반 헤더와 탭 구조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관심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시세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차트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주문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자산 영역을 한 화면에 배치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숫자 영역의 고정 폭과 정렬로 가독성 확보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EDAA610-FC8A-44B1-8060-6FE900F6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00784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0072CE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EBDB134-13EB-4B2C-902B-D7358CCA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17520"/>
            <a:ext cx="5029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검색 정확도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FF50997-052A-4B20-8897-5F8B7B21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64992"/>
            <a:ext cx="5029200" cy="97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005490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처럼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6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자리 코드 정확 일치 우선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005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검색 시 코드가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005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로 시작하는 종목 우선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KOSPI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검색 시 해당 시장 종목을 함께 노출</a:t>
            </a:r>
            <a:endParaRPr sz="10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48EB1DE-556D-4E1D-99B8-8C416B3C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00984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E5484D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530B6EC-66BF-4FDA-AD20-578138C4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17720"/>
            <a:ext cx="5029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로딩 체감</a:t>
            </a:r>
            <a:endParaRPr sz="13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344A4EE-4A3F-4FB4-AECB-6E95328F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65192"/>
            <a:ext cx="502920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저장값을 즉시 표시해 첫 화면 대기 최소화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선택 종목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기간이 바뀌면 해당 차트를 우선 조회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최신 값 도착 시 화면을 중단 없이 교체</a:t>
            </a:r>
            <a:endParaRPr sz="10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46F0091-53B3-4757-BB6E-20639193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01184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00A676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166A3EB-BFBA-43B6-9CF1-AD246B54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6035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POSCO Securities Simulator · 개인 프로젝트 기획서</a:t>
            </a:r>
            <a:endParaRPr sz="7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DEB5061-DD91-4819-A619-7E0F9735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7376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09</a:t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8B8D615-EEDC-4E0A-B35C-9F047DB5BDA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67388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7DAF484-8CD9-4501-BCA5-0AD6F93F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498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개발 환경과 실행 방법</a:t>
            </a:r>
            <a:endParaRPr sz="2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BA0328D-CCB9-451D-A05C-23917597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7724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프론트엔드와 </a:t>
            </a: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API </a:t>
            </a: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서버를 한 명령으로 실행</a:t>
            </a:r>
            <a:endParaRPr sz="9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8A488A7-4484-429E-B290-047301C5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3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282F6AD-A337-4454-9372-25AF07C2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4480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Front-End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7EFEC9-B954-48A0-8588-334E7770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82496"/>
            <a:ext cx="4480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React · JSX · CSS · Vite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1F99009-CC8F-4A98-9B9D-D47C7E16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417320"/>
            <a:ext cx="1508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Back-End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22FFCE-BF3E-40F2-AF1F-B073708D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82496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72CE"/>
                </a:solidFill>
                <a:latin typeface="Malgun Gothic"/>
                <a:ea typeface="Malgun Gothic"/>
                <a:cs typeface="Malgun Gothic"/>
              </a:rPr>
              <a:t>Node.js · Express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CF4F567-2EA8-408F-A0A7-EB90749B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17320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Database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880F369-B136-4FD1-B987-8F5801F9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82496"/>
            <a:ext cx="1325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A676"/>
                </a:solidFill>
                <a:latin typeface="Malgun Gothic"/>
                <a:ea typeface="Malgun Gothic"/>
                <a:cs typeface="Malgun Gothic"/>
              </a:rPr>
              <a:t>SQLite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6A5E1F1-DA9E-477D-9741-DDA5ECAA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41732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Market API</a:t>
            </a:r>
            <a:endParaRPr sz="8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04730AC-300A-4D88-A618-C51C892A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682496"/>
            <a:ext cx="1828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D5DF7"/>
                </a:solidFill>
                <a:latin typeface="Malgun Gothic"/>
                <a:ea typeface="Malgun Gothic"/>
                <a:cs typeface="Malgun Gothic"/>
              </a:rPr>
              <a:t>한국투자증권 </a:t>
            </a:r>
            <a:r>
              <a:rPr sz="1800" b="1">
                <a:solidFill>
                  <a:srgbClr val="6D5DF7"/>
                </a:solidFill>
                <a:latin typeface="Malgun Gothic"/>
                <a:ea typeface="Malgun Gothic"/>
                <a:cs typeface="Malgun Gothic"/>
              </a:rPr>
              <a:t>Open API</a:t>
            </a:r>
            <a:endParaRPr sz="1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7D6558D-154E-49D3-9F0C-29A9B1DF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34640"/>
            <a:ext cx="20116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12700">
            <a:solidFill>
              <a:srgbClr val="EAF5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072CE"/>
                </a:solidFill>
                <a:latin typeface="Malgun Gothic"/>
                <a:ea typeface="Malgun Gothic"/>
                <a:cs typeface="Malgun Gothic"/>
              </a:rPr>
              <a:t>실행 명령어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B61FC06-E605-4B09-AF52-E362E65A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657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3"/>
          </a:solidFill>
          <a:ln xmlns:a="http://schemas.openxmlformats.org/drawingml/2006/main" w="12700">
            <a:solidFill>
              <a:srgbClr val="0F2033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npm install</a:t>
            </a:r>
          </a:p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npm run dev:all</a:t>
            </a:r>
          </a:p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D8ECFF"/>
                </a:solidFill>
                <a:latin typeface="Malgun Gothic"/>
                <a:ea typeface="Malgun Gothic"/>
                <a:cs typeface="Malgun Gothic"/>
              </a:rPr>
              <a:t>http://localhost:5173</a:t>
            </a:r>
            <a:endParaRPr sz="17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F0783D-4346-4C26-8D9A-C178AAB1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80360"/>
            <a:ext cx="5212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동작 방식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926FB51-4C38-4650-9715-7BBE9210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27832"/>
            <a:ext cx="5212080" cy="1298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Vite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는 화면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, Express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는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/api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요청을 처리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API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키가 없거나 장이 닫히면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SQLite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의 최근값 사용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서버 실행 중 수집한 데이터만 새로 저장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• DB </a:t>
            </a:r>
            <a:r>
              <a:rPr sz="105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파일은 서버 재시작 후에도 유지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488F6BC-7F2A-479C-8CBE-2B3EFF85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63824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F59E0B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717CD29-8CD6-4375-992C-90F4D00E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94960"/>
            <a:ext cx="100584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설명</a:t>
            </a: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실제 시세 연동과 영속 저장을 구현한 학습용 가상 증권사 모의투자 서비스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5523D17-6EF5-49EB-B23F-356AEC72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6035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POSCO Securities Simulator · 개인 프로젝트 기획서</a:t>
            </a:r>
            <a:endParaRPr sz="7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9D75299-5E2F-46FA-A9F6-E95E7899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7376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10</a:t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59B9AC2-E178-4704-9A3C-D9509E33F95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2662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4A6C3F2-AF65-454C-A141-7E2E4880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498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프로젝트를 통해 구현한 역량</a:t>
            </a:r>
            <a:endParaRPr sz="2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22AE52-0147-45E9-AA31-2E3925E5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7724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프론트엔드</a:t>
            </a: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·API·DB</a:t>
            </a: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를 실제 서비스 흐름으로 연결</a:t>
            </a:r>
            <a:endParaRPr sz="9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63A09CB-56CF-4290-BE28-9D72872D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3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B27C8BA-A082-4A16-8987-262E78D8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35608"/>
            <a:ext cx="4114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CE"/>
          </a:solidFill>
          <a:ln xmlns:a="http://schemas.openxmlformats.org/drawingml/2006/main">
            <a:solidFill>
              <a:srgbClr val="0072CE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5047200-E27C-47B7-A277-1625EF16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1417320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비동기 상태 설계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875456-2CE5-47FA-9457-E397A31B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1444752"/>
            <a:ext cx="71780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7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저장값 선표시와 최신값 갱신 상태를 구분</a:t>
            </a:r>
            <a:endParaRPr sz="117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5CCF876-D092-40C5-B77E-A2A970B7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4114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>
            <a:solidFill>
              <a:srgbClr val="00A676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7FCF637-AB4E-4975-AB2C-85D156D0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2295144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데이터 영속성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8B1DDBB-ED2B-4A01-9247-57BA4F71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2322576"/>
            <a:ext cx="71780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7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SQLite </a:t>
            </a:r>
            <a:r>
              <a:rPr sz="117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스키마와 기간별 차트 저장 키 설계</a:t>
            </a:r>
            <a:endParaRPr sz="117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28130A3-A130-48C6-824A-76896414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91256"/>
            <a:ext cx="4114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>
            <a:solidFill>
              <a:srgbClr val="E5484D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4FBB97F-A987-41E4-9444-F0F171C5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172968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API </a:t>
            </a:r>
            <a:r>
              <a:rPr sz="14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연결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516BA90-6DCB-4A98-B748-17401D3F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3200400"/>
            <a:ext cx="71780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7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KIS </a:t>
            </a:r>
            <a:r>
              <a:rPr sz="117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응답</a:t>
            </a:r>
            <a:r>
              <a:rPr sz="117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7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서버 저장</a:t>
            </a:r>
            <a:r>
              <a:rPr sz="117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·React </a:t>
            </a:r>
            <a:r>
              <a:rPr sz="117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재렌더링을 연결</a:t>
            </a:r>
            <a:endParaRPr sz="117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9E0FCF5-3593-411D-9CD8-9B838798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69080"/>
            <a:ext cx="4114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7"/>
          </a:solidFill>
          <a:ln xmlns:a="http://schemas.openxmlformats.org/drawingml/2006/main">
            <a:solidFill>
              <a:srgbClr val="6D5DF7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9FB672B-C223-47BC-88D5-C469F0D2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4050792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검색 품질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20412E6-92D7-4BDA-B617-2B1B334F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4078224"/>
            <a:ext cx="71780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7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종목코드와 시장명에 맞춘 정규화</a:t>
            </a:r>
            <a:r>
              <a:rPr sz="117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7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우선순위 정렬</a:t>
            </a:r>
            <a:endParaRPr sz="117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495ABF9-556D-49C4-97BB-400CF423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946904"/>
            <a:ext cx="4114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solidFill>
              <a:srgbClr val="F59E0B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2D8ABEE-F806-4F36-BA20-27721DFD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4928616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UI </a:t>
            </a:r>
            <a:r>
              <a:rPr sz="14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안정성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6961891-78E6-4D57-8D14-7119AE9E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4956048"/>
            <a:ext cx="71780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7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숫자 폭</a:t>
            </a:r>
            <a:r>
              <a:rPr sz="117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7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빈 상태</a:t>
            </a:r>
            <a:r>
              <a:rPr sz="117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70">
                <a:solidFill>
                  <a:srgbClr val="152333"/>
                </a:solidFill>
                <a:latin typeface="Malgun Gothic"/>
                <a:ea typeface="Malgun Gothic"/>
                <a:cs typeface="Malgun Gothic"/>
              </a:rPr>
              <a:t>로딩 중 레이아웃을 안정적으로 유지</a:t>
            </a:r>
            <a:endParaRPr sz="117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A250A99-B83B-422B-803C-0DA07BD5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715000"/>
            <a:ext cx="99669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12700">
            <a:solidFill>
              <a:srgbClr val="D8E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결론</a:t>
            </a:r>
            <a:r>
              <a:rPr sz="132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32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저장된 데이터를 즉시 보여주고 실제 데이터로 갱신하는 완성형 금융 화면의 핵심 흐름을 구현했다</a:t>
            </a:r>
            <a:r>
              <a:rPr sz="132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3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C253642-D6C3-48C8-B274-66B759A7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6035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POSCO Securities Simulator · 개인 프로젝트 기획서</a:t>
            </a:r>
            <a:endParaRPr sz="7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1999A9E-1729-456E-AF1F-BE4BC99D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7376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11</a:t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8A1679E-A478-43C2-A7D5-4F83794BFB5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11023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B9885BD-967E-4F82-BEE3-04389869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498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완료 성과와 운영 안정화</a:t>
            </a:r>
            <a:endParaRPr sz="2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4CC07C9-2440-4423-95E1-5EE0CCDB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7724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6</a:t>
            </a:r>
            <a:r>
              <a:rPr sz="9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단계 구현과 핵심 회귀검증을 완료</a:t>
            </a:r>
            <a:endParaRPr sz="9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658BD91-8BB9-4726-BEF1-61C7642C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1556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3EE"/>
            </a:solidFill>
            <a:prstDash val="solid"/>
          </a:ln>
        </p:spPr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2e406a9e54cf4"/>
          <a:srcRect xmlns:a="http://schemas.openxmlformats.org/drawingml/2006/main" l="0" t="25000" r="-11784" b="27000"/>
          <a:stretch xmlns:a="http://schemas.openxmlformats.org/drawingml/2006/main"/>
        </p:blipFill>
        <p:spPr>
          <a:xfrm xmlns:a="http://schemas.openxmlformats.org/drawingml/2006/main">
            <a:off x="594360" y="1234440"/>
            <a:ext cx="10972800" cy="2651760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C8DD1B7-1522-4F7A-B181-08C569BD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43400"/>
            <a:ext cx="178308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68</a:t>
            </a: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개 종목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통합 검색</a:t>
            </a:r>
            <a:endParaRPr sz="10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EDA6807-D193-4FFE-848E-CF733031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43400"/>
            <a:ext cx="178308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KIS </a:t>
            </a: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시세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차트 연동</a:t>
            </a:r>
            <a:endParaRPr sz="10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7F08095-03B6-4980-8F7E-506235BF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4343400"/>
            <a:ext cx="178308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Express·SQLite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재시작 후 유지</a:t>
            </a:r>
            <a:endParaRPr sz="10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117B997-C6BE-4657-B9B4-562977EF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343400"/>
            <a:ext cx="178308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·5</a:t>
            </a: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일봉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선표시</a:t>
            </a: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갱신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4F60D6E-5B1D-419B-8619-3E442AFA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343400"/>
            <a:ext cx="178308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3EE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인증</a:t>
            </a: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부분체결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1F33"/>
                </a:solidFill>
                <a:latin typeface="Malgun Gothic"/>
                <a:ea typeface="Malgun Gothic"/>
                <a:cs typeface="Malgun Gothic"/>
              </a:rPr>
              <a:t>운영 상태</a:t>
            </a:r>
            <a:endParaRPr sz="10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D8A1ACA-D3C0-479E-A81B-F2282E14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69280"/>
            <a:ext cx="101498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검증 완료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계좌 격리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부분체결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D+2 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결제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강제청산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KIS WebSocket </a:t>
            </a: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연속 수신</a:t>
            </a:r>
            <a:endParaRPr sz="13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D2B739F-B1E2-4534-8177-D12EAB2C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6035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POSCO Securities Simulator · 개인 프로젝트 기획서</a:t>
            </a:r>
            <a:endParaRPr sz="7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7E11128-2F9E-4B67-BA20-4F65CC5C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7376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b="1">
                <a:solidFill>
                  <a:srgbClr val="7D8DA1"/>
                </a:solidFill>
                <a:latin typeface="Malgun Gothic"/>
                <a:ea typeface="Malgun Gothic"/>
                <a:cs typeface="Malgun Gothic"/>
              </a:rPr>
              <a:t>12</a:t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7C1A975-7FC4-45F8-A65D-5DE47E964E8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7D8DA1"/>
                </a:solidFill>
                <a:latin typeface="Malgun Gothic"/>
                <a:ea typeface="Malgun Gothic"/>
                <a:cs typeface="Malgun Gothic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664936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2026-09-09T00:32:21.9470000Z</dcterms:created>
  <dcterms:modified xsi:type="dcterms:W3CDTF">2026-09-09T00:32:21.9470000Z</dcterms:modified>
</coreProperties>
</file>