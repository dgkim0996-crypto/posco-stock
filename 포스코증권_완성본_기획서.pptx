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02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</a:t>
            </a:r>
            <a:r>
              <a:rPr lang="ko-KR" altLang="en-US"/>
              <a:t>사용자 제공 원본</a:t>
            </a:r>
            <a:r>
              <a:rPr lang="en-US" altLang="ko-KR"/>
              <a:t>: </a:t>
            </a:r>
            <a:r>
              <a:rPr lang="ko-KR" altLang="en-US"/>
              <a:t>뽀스꼬계획서</a:t>
            </a:r>
            <a:r>
              <a:rPr lang="en-US" altLang="ko-KR"/>
              <a:t>.pptx</a:t>
            </a:r>
          </a:p>
          <a:p>
            <a:r>
              <a:rPr lang="en-US" altLang="ko-KR"/>
              <a:t>- </a:t>
            </a:r>
            <a:r>
              <a:rPr lang="ko-KR" altLang="en-US"/>
              <a:t>현재 로컬 프로젝트 소스 및 실행 화면 </a:t>
            </a:r>
            <a:r>
              <a:rPr lang="en-US" altLang="ko-KR"/>
              <a:t>(2026-09-03)</a:t>
            </a:r>
          </a:p>
          <a:p>
            <a:r>
              <a:rPr lang="en-US" altLang="ko-KR"/>
              <a:t>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office_desk_scene_with_a_large_wi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93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포스코증권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8368" y="960120"/>
            <a:ext cx="2560320" cy="292608"/>
          </a:xfrm>
          <a:prstGeom prst="rect">
            <a:avLst/>
          </a:prstGeom>
          <a:solidFill>
            <a:srgbClr val="153B61"/>
          </a:solidFill>
          <a:ln>
            <a:solidFill>
              <a:srgbClr val="153B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A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증권사 브랜드 · 모의투자 서비스</a:t>
            </a:r>
            <a:endParaRPr lang="en-US" sz="820" dirty="0"/>
          </a:p>
        </p:txBody>
      </p:sp>
      <p:sp>
        <p:nvSpPr>
          <p:cNvPr id="5" name="Text 2"/>
          <p:cNvSpPr/>
          <p:nvPr/>
        </p:nvSpPr>
        <p:spPr>
          <a:xfrm>
            <a:off x="658368" y="1874520"/>
            <a:ext cx="5852160" cy="1280160"/>
          </a:xfrm>
          <a:prstGeom prst="rect">
            <a:avLst/>
          </a:prstGeom>
          <a:solidFill>
            <a:srgbClr val="0B1F33">
              <a:alpha val="92000"/>
            </a:srgbClr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트레이딩 시스템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 기획서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Vite 기반 멀티자산 모의거래 플랫폼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5806440"/>
            <a:ext cx="4846320" cy="438912"/>
          </a:xfrm>
          <a:prstGeom prst="rect">
            <a:avLst/>
          </a:prstGeom>
          <a:solidFill>
            <a:srgbClr val="0F2D4A"/>
          </a:solidFill>
          <a:ln w="12700">
            <a:solidFill>
              <a:srgbClr val="315B8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CF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제출용 PPT · 실제 금융거래가 아닌 학습용 시뮬레이터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시세와 저장 데이터를 함께 사용하는 모의투자 웹 서비스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6824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포스코증권 웹 트레이딩 시스템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브랜드 / 개인 프로젝트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0" y="1682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Vite + Express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2130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2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</a:t>
            </a:r>
            <a:r>
              <a:rPr lang="en-US" altLang="ko-KR" sz="72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·API </a:t>
            </a:r>
            <a:r>
              <a:rPr lang="ko-KR" altLang="en-US" sz="72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분리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740664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자금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06640" y="1682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10,000,000원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계좌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05840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현물 종목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464800" y="16824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80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r>
              <a:rPr lang="ko-KR" altLang="en-US" sz="180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완료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콘셉트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136392"/>
            <a:ext cx="548640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디지털자산을 한 화면에서 조회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한국투자증권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시세와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데이터 연동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종목명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시장명 통합 검색과 주문 기능 구현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마감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 후에도 최근 데이터로 즉시 화면 표시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072384"/>
            <a:ext cx="1005840" cy="0"/>
          </a:xfrm>
          <a:prstGeom prst="line">
            <a:avLst/>
          </a:prstGeom>
          <a:noFill/>
          <a:ln w="30480">
            <a:solidFill>
              <a:srgbClr val="0072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160520"/>
            <a:ext cx="4206240" cy="0"/>
          </a:xfrm>
          <a:prstGeom prst="line">
            <a:avLst/>
          </a:prstGeom>
          <a:noFill/>
          <a:ln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46520" y="3364992"/>
            <a:ext cx="1371600" cy="731520"/>
          </a:xfrm>
          <a:prstGeom prst="rect">
            <a:avLst/>
          </a:prstGeom>
          <a:solidFill>
            <a:srgbClr val="EAF5FF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</a:p>
          <a:p>
            <a:pPr marL="0" indent="0" algn="ctr">
              <a:buNone/>
            </a:pPr>
            <a:r>
              <a:rPr lang="ko-KR" altLang="en-US" sz="10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altLang="ko-KR" sz="10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시세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092440" y="3364992"/>
            <a:ext cx="1371600" cy="731520"/>
          </a:xfrm>
          <a:prstGeom prst="rect">
            <a:avLst/>
          </a:prstGeom>
          <a:solidFill>
            <a:srgbClr val="FFF3F3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실행</a:t>
            </a:r>
          </a:p>
          <a:p>
            <a:pPr marL="0" indent="0" algn="ctr">
              <a:buNone/>
            </a:pPr>
            <a:r>
              <a:rPr lang="en-US" sz="102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BUY / SELL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738360" y="3364992"/>
            <a:ext cx="1371600" cy="731520"/>
          </a:xfrm>
          <a:prstGeom prst="rect">
            <a:avLst/>
          </a:prstGeom>
          <a:solidFill>
            <a:srgbClr val="ECFDF5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</a:t>
            </a:r>
            <a:r>
              <a:rPr lang="en-US" altLang="ko-KR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·DB </a:t>
            </a:r>
            <a:r>
              <a:rPr lang="ko-KR" altLang="en-US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</a:p>
          <a:p>
            <a:pPr marL="0" indent="0" algn="ctr">
              <a:buNone/>
            </a:pPr>
            <a:r>
              <a:rPr lang="ko-KR" altLang="en-US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r>
              <a:rPr lang="en-US" altLang="ko-KR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492240" y="4709160"/>
            <a:ext cx="4663440" cy="65836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r>
              <a:rPr lang="en-US" altLang="ko-KR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데이터를 먼저 보여주고 최신 시세가 도착하면 화면이 자연스럽게 갱신되는 서비스 흐름 구현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해결 결과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초기 화면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마감 데이터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정확도를 함께 개선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pic>
        <p:nvPicPr>
          <p:cNvPr id="5" name="Image 0" descr="/mnt/data/wide_clean_corporate_fintech_tech_roadmap_illustr.png"/>
          <p:cNvPicPr>
            <a:picLocks noChangeAspect="1"/>
          </p:cNvPicPr>
          <p:nvPr/>
        </p:nvPicPr>
        <p:blipFill>
          <a:blip r:embed="rId3"/>
          <a:srcRect l="8000" r="35720"/>
          <a:stretch/>
        </p:blipFill>
        <p:spPr>
          <a:xfrm>
            <a:off x="594360" y="1417320"/>
            <a:ext cx="425196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7800" y="1417320"/>
            <a:ext cx="1143000" cy="320040"/>
          </a:xfrm>
          <a:prstGeom prst="rect">
            <a:avLst/>
          </a:prstGeom>
          <a:solidFill>
            <a:srgbClr val="EAF5FF"/>
          </a:solidFill>
          <a:ln w="12700">
            <a:solidFill>
              <a:srgbClr val="EAF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문제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57800" y="1874520"/>
            <a:ext cx="6035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전 빈 화면이 길고</a:t>
            </a:r>
            <a:r>
              <a:rPr lang="en-US" altLang="ko-KR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장이 닫히면 차트가 비며</a:t>
            </a:r>
            <a:r>
              <a:rPr lang="en-US" altLang="ko-KR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결과가 이름 일부 기준으로 잘못 노출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788920"/>
            <a:ext cx="1234440" cy="320040"/>
          </a:xfrm>
          <a:prstGeom prst="rect">
            <a:avLst/>
          </a:prstGeom>
          <a:solidFill>
            <a:srgbClr val="E9F8F1"/>
          </a:solidFill>
          <a:ln w="12700">
            <a:solidFill>
              <a:srgbClr val="E9F8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57800" y="3246120"/>
            <a:ext cx="6035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r>
              <a:rPr lang="ko-KR" altLang="en-US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시세</a:t>
            </a:r>
            <a:r>
              <a:rPr lang="en-US" altLang="ko-KR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차트를 영속 저장하고 브라우저 캐시를 선표시한 뒤 </a:t>
            </a:r>
            <a:r>
              <a:rPr lang="en-US" altLang="ko-KR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3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 </a:t>
            </a:r>
            <a:r>
              <a:rPr lang="ko-KR" altLang="en-US" sz="13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251960"/>
            <a:ext cx="1234440" cy="320040"/>
          </a:xfrm>
          <a:prstGeom prst="rect">
            <a:avLst/>
          </a:prstGeom>
          <a:solidFill>
            <a:srgbClr val="FFF5E5"/>
          </a:solidFill>
          <a:ln w="12700">
            <a:solidFill>
              <a:srgbClr val="FFF5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결과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57800" y="4709160"/>
            <a:ext cx="6035040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·5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즉시 표시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 후 데이터 유지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종목명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코드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시장명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구성과 검색 범위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현물 종목과 멀티자산을 하나의 검색 흐름으로 통합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데이터 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0240" y="1901952"/>
            <a:ext cx="4069080" cy="164592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856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altLang="ko-KR" sz="105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r>
              <a:rPr lang="ko-KR" altLang="en-US" sz="105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2688336"/>
            <a:ext cx="322943" cy="164592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6426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20240" y="3474720"/>
            <a:ext cx="322943" cy="164592"/>
          </a:xfrm>
          <a:prstGeom prst="rect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429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2336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디지털자산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20240" y="4261104"/>
            <a:ext cx="25835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215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 계열사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696712"/>
            <a:ext cx="5212080" cy="612648"/>
          </a:xfrm>
          <a:prstGeom prst="rect">
            <a:avLst/>
          </a:prstGeom>
          <a:noFill/>
          <a:ln/>
        </p:spPr>
        <p:txBody>
          <a:bodyPr wrap="square" lIns="254" tIns="0" rIns="254" bIns="0" rtlCol="0" anchor="ctr">
            <a:no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홀딩스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포스코퓨처엠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포스코인터내셔널</a:t>
            </a:r>
          </a:p>
          <a:p>
            <a:pPr marL="0" indent="0">
              <a:buNone/>
            </a:pP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 ·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포스코스틸리온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포스코엠텍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632704"/>
            <a:ext cx="1005840" cy="0"/>
          </a:xfrm>
          <a:prstGeom prst="line">
            <a:avLst/>
          </a:prstGeom>
          <a:noFill/>
          <a:ln w="30480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1764792"/>
            <a:ext cx="429768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종목명과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종목코드 검색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검색은 정확 일치와 앞자리 일치를 우선 정렬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KOSPI·KOSDAQ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시장명 검색 지원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95160" y="1700784"/>
            <a:ext cx="1005840" cy="0"/>
          </a:xfrm>
          <a:prstGeom prst="line">
            <a:avLst/>
          </a:prstGeom>
          <a:noFill/>
          <a:ln w="30480">
            <a:solidFill>
              <a:srgbClr val="0072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3794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r>
              <a:rPr lang="en-US" altLang="ko-KR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방식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4142232"/>
            <a:ext cx="429768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NASDAQ / NYSE / KOSPI / KOSDAQ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표기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달러 종목은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계좌는 원화 환산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시세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차트를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기간별 저장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수가 많아도 검색과 내부 스크롤로 탐색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95160" y="4078224"/>
            <a:ext cx="1005840" cy="0"/>
          </a:xfrm>
          <a:prstGeom prst="line">
            <a:avLst/>
          </a:prstGeom>
          <a:noFill/>
          <a:ln w="30480">
            <a:solidFill>
              <a:srgbClr val="00A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화면 구성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웹 트레이딩 화면의 주요 영역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1371600" cy="2743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포스코증권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9052560" cy="2743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DCE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트레이딩   자산현황   투자정보   상품   뱅킹</a:t>
            </a:r>
            <a:r>
              <a:rPr lang="en-US" altLang="ko-KR" sz="1000" b="1">
                <a:solidFill>
                  <a:srgbClr val="DCE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00" b="1">
                <a:solidFill>
                  <a:srgbClr val="DCE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83664"/>
            <a:ext cx="104424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요약</a:t>
            </a:r>
          </a:p>
          <a:p>
            <a:pPr marL="0" indent="0" algn="ctr">
              <a:buNone/>
            </a:pPr>
            <a:r>
              <a:rPr lang="ko-KR" alt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평가자산 </a:t>
            </a:r>
            <a:r>
              <a:rPr lang="en-US" altLang="ko-KR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주문가능금액 </a:t>
            </a:r>
            <a:r>
              <a:rPr lang="en-US" altLang="ko-KR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평가손익 </a:t>
            </a:r>
            <a:r>
              <a:rPr lang="en-US" altLang="ko-KR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2331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목록 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altLang="ko-KR" sz="11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ko-KR" altLang="en-US" sz="11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1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종목명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 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시장명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멀티자산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55264" y="2697480"/>
            <a:ext cx="2743200" cy="2697480"/>
          </a:xfrm>
          <a:prstGeom prst="rect">
            <a:avLst/>
          </a:prstGeom>
          <a:solidFill>
            <a:srgbClr val="F8FC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종목 상세</a:t>
            </a:r>
            <a:endParaRPr lang="en-US" altLang="ko-KR" sz="11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ko-KR" altLang="en-US" sz="11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·5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차트 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현재가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등락률 </a:t>
            </a:r>
            <a:r>
              <a:rPr lang="en-US" altLang="ko-KR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6208" y="2697480"/>
            <a:ext cx="2423160" cy="2697480"/>
          </a:xfrm>
          <a:prstGeom prst="rect">
            <a:avLst/>
          </a:prstGeom>
          <a:solidFill>
            <a:srgbClr val="FFF8F8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주문창</a:t>
            </a:r>
            <a:endParaRPr lang="en-US" sz="11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BUY / SELL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/ SHORT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입력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87968" y="2697480"/>
            <a:ext cx="2267712" cy="2697480"/>
          </a:xfrm>
          <a:prstGeom prst="rect">
            <a:avLst/>
          </a:prstGeom>
          <a:solidFill>
            <a:srgbClr val="F6FFF9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보유자산·거래내역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평균단가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평가손익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 기록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5742432"/>
            <a:ext cx="1463040" cy="292608"/>
          </a:xfrm>
          <a:prstGeom prst="rect">
            <a:avLst/>
          </a:prstGeom>
          <a:solidFill>
            <a:srgbClr val="EAF5FF"/>
          </a:solidFill>
          <a:ln>
            <a:solidFill>
              <a:srgbClr val="EAF5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증권사 느낌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31720" y="5779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</a:t>
            </a:r>
            <a:r>
              <a:rPr lang="en-US" altLang="ko-KR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r>
              <a:rPr lang="ko-KR" altLang="en-US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</a:t>
            </a:r>
            <a:r>
              <a:rPr lang="en-US" altLang="ko-KR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</a:t>
            </a:r>
            <a:r>
              <a:rPr lang="en-US" altLang="ko-KR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r>
              <a:rPr lang="ko-KR" altLang="en-US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 </a:t>
            </a:r>
            <a:r>
              <a:rPr lang="en-US" altLang="ko-KR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 선표시 </a:t>
            </a:r>
            <a:r>
              <a:rPr lang="en-US" altLang="ko-KR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1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데이터 도착 시 자동 갱신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주요 기능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저장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행동을 하나의 화면 흐름으로 연결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ko-KR" altLang="en-US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종목명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종목코드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시장명으로 결과 정렬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618488"/>
            <a:ext cx="0" cy="1170432"/>
          </a:xfrm>
          <a:prstGeom prst="line">
            <a:avLst/>
          </a:prstGeom>
          <a:noFill/>
          <a:ln w="40640">
            <a:solidFill>
              <a:srgbClr val="007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1" y="1664208"/>
            <a:ext cx="411480" cy="292608"/>
          </a:xfrm>
          <a:prstGeom prst="rect">
            <a:avLst/>
          </a:prstGeom>
          <a:solidFill>
            <a:srgbClr val="F3F8FF"/>
          </a:solidFill>
          <a:ln>
            <a:solidFill>
              <a:srgbClr val="F3F8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26280" y="15087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시세</a:t>
            </a: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ko-KR" altLang="en-US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한국투자증권 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응답으로 현재가와 등락 갱신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18488"/>
            <a:ext cx="0" cy="1170432"/>
          </a:xfrm>
          <a:prstGeom prst="line">
            <a:avLst/>
          </a:prstGeom>
          <a:noFill/>
          <a:ln w="40640">
            <a:solidFill>
              <a:srgbClr val="00A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4939" y="1664208"/>
            <a:ext cx="411480" cy="292608"/>
          </a:xfrm>
          <a:prstGeom prst="rect">
            <a:avLst/>
          </a:prstGeom>
          <a:solidFill>
            <a:srgbClr val="F3F8FF"/>
          </a:solidFill>
          <a:ln>
            <a:solidFill>
              <a:srgbClr val="F3F8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75320" y="15087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데이터</a:t>
            </a: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ko-KR" altLang="en-US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시세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·1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·5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 err="1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차트를 저장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618488"/>
            <a:ext cx="0" cy="1170432"/>
          </a:xfrm>
          <a:prstGeom prst="line">
            <a:avLst/>
          </a:prstGeom>
          <a:noFill/>
          <a:ln w="40640">
            <a:solidFill>
              <a:srgbClr val="E548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73197" y="1664208"/>
            <a:ext cx="411480" cy="292608"/>
          </a:xfrm>
          <a:prstGeom prst="rect">
            <a:avLst/>
          </a:prstGeom>
          <a:solidFill>
            <a:srgbClr val="F3F8FF"/>
          </a:solidFill>
          <a:ln>
            <a:solidFill>
              <a:srgbClr val="F3F8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초기 화면</a:t>
            </a: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ko-KR" altLang="en-US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캐시를 먼저 표시하고 백그라운드 갱신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767328"/>
            <a:ext cx="0" cy="1170432"/>
          </a:xfrm>
          <a:prstGeom prst="line">
            <a:avLst/>
          </a:prstGeom>
          <a:noFill/>
          <a:ln w="40640">
            <a:solidFill>
              <a:srgbClr val="6D5D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8751" y="3803904"/>
            <a:ext cx="411480" cy="292608"/>
          </a:xfrm>
          <a:prstGeom prst="rect">
            <a:avLst/>
          </a:prstGeom>
          <a:solidFill>
            <a:srgbClr val="F3F8FF"/>
          </a:solidFill>
          <a:ln>
            <a:solidFill>
              <a:srgbClr val="F3F8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26280" y="365760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ko-KR" altLang="en-US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보유수량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평균단가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평가손익 자동 계산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767328"/>
            <a:ext cx="0" cy="1170432"/>
          </a:xfrm>
          <a:prstGeom prst="line">
            <a:avLst/>
          </a:prstGeom>
          <a:noFill/>
          <a:ln w="406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4939" y="3803904"/>
            <a:ext cx="411480" cy="292608"/>
          </a:xfrm>
          <a:prstGeom prst="rect">
            <a:avLst/>
          </a:prstGeom>
          <a:solidFill>
            <a:srgbClr val="F3F8FF"/>
          </a:solidFill>
          <a:ln>
            <a:solidFill>
              <a:srgbClr val="F3F8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5320" y="365760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기록</a:t>
            </a: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altLang="ko-KR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ko-KR" altLang="en-US" sz="1200" b="1" dirty="0">
              <a:solidFill>
                <a:srgbClr val="1523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</a:t>
            </a:r>
            <a:r>
              <a:rPr lang="en-US" altLang="ko-KR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청산 내역을 체결내역으로 표시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75320" y="3767328"/>
            <a:ext cx="0" cy="1170432"/>
          </a:xfrm>
          <a:prstGeom prst="line">
            <a:avLst/>
          </a:prstGeom>
          <a:noFill/>
          <a:ln w="4064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79" y="3803904"/>
            <a:ext cx="411480" cy="292608"/>
          </a:xfrm>
          <a:prstGeom prst="rect">
            <a:avLst/>
          </a:prstGeom>
          <a:solidFill>
            <a:srgbClr val="F3F8FF"/>
          </a:solidFill>
          <a:ln>
            <a:solidFill>
              <a:srgbClr val="F3F8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" y="5897880"/>
            <a:ext cx="10744200" cy="4114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altLang="ko-KR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마감이나 </a:t>
            </a:r>
            <a:r>
              <a:rPr lang="en-US" altLang="ko-KR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지연에도 이전 데이터를 즉시 보여주고 최신 값으로 자연스럽게 교체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로딩과 갱신 흐름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저장값을 먼저 보여준 뒤 서버 데이터로 재검증하는 단계적 로딩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971800"/>
            <a:ext cx="914400" cy="0"/>
          </a:xfrm>
          <a:prstGeom prst="line">
            <a:avLst/>
          </a:prstGeom>
          <a:noFill/>
          <a:ln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03320" y="2971800"/>
            <a:ext cx="914400" cy="0"/>
          </a:xfrm>
          <a:prstGeom prst="line">
            <a:avLst/>
          </a:prstGeom>
          <a:noFill/>
          <a:ln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2971800"/>
            <a:ext cx="914400" cy="0"/>
          </a:xfrm>
          <a:prstGeom prst="line">
            <a:avLst/>
          </a:prstGeom>
          <a:noFill/>
          <a:ln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60920" y="2971800"/>
            <a:ext cx="914400" cy="0"/>
          </a:xfrm>
          <a:prstGeom prst="line">
            <a:avLst/>
          </a:prstGeom>
          <a:noFill/>
          <a:ln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89720" y="2971800"/>
            <a:ext cx="914400" cy="0"/>
          </a:xfrm>
          <a:prstGeom prst="line">
            <a:avLst/>
          </a:prstGeom>
          <a:noFill/>
          <a:ln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2514600"/>
            <a:ext cx="1143000" cy="914400"/>
          </a:xfrm>
          <a:prstGeom prst="rect">
            <a:avLst/>
          </a:prstGeom>
          <a:solidFill>
            <a:srgbClr val="EAF5FF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진입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788920" y="2514600"/>
            <a:ext cx="1143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캐시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1143000" cy="914400"/>
          </a:xfrm>
          <a:prstGeom prst="rect">
            <a:avLst/>
          </a:prstGeom>
          <a:solidFill>
            <a:srgbClr val="FFF3F3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 API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1143000" cy="914400"/>
          </a:xfrm>
          <a:prstGeom prst="rect">
            <a:avLst/>
          </a:prstGeom>
          <a:solidFill>
            <a:srgbClr val="ECFDF5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</a:t>
            </a:r>
            <a:r>
              <a:rPr lang="ko-KR" altLang="en-US" sz="102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275320" y="2514600"/>
            <a:ext cx="1143000" cy="914400"/>
          </a:xfrm>
          <a:prstGeom prst="rect">
            <a:avLst/>
          </a:prstGeom>
          <a:solidFill>
            <a:srgbClr val="FFF7E6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02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</a:t>
            </a:r>
            <a:r>
              <a:rPr lang="ko-KR" altLang="en-US" sz="102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시세</a:t>
            </a:r>
          </a:p>
          <a:p>
            <a:pPr marL="0" indent="0" algn="ctr">
              <a:buNone/>
            </a:pPr>
            <a:r>
              <a:rPr lang="ko-KR" altLang="en-US" sz="102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0104120" y="2514600"/>
            <a:ext cx="1143000" cy="914400"/>
          </a:xfrm>
          <a:prstGeom prst="rect">
            <a:avLst/>
          </a:prstGeom>
          <a:solidFill>
            <a:srgbClr val="F1EEFF"/>
          </a:solidFill>
          <a:ln>
            <a:solidFill>
              <a:srgbClr val="D8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2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lang="en-US" altLang="ko-KR" sz="102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2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</a:t>
            </a:r>
            <a:r>
              <a:rPr lang="en-US" altLang="ko-KR" sz="102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·DB</a:t>
            </a:r>
          </a:p>
          <a:p>
            <a:pPr marL="0" indent="0" algn="ctr">
              <a:buNone/>
            </a:pPr>
            <a:r>
              <a:rPr lang="ko-KR" altLang="en-US" sz="102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68680" y="42519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표시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599432"/>
            <a:ext cx="507492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 저장된 최근 시세를 즉시 표시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캐시가 없으면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최신 값을 사용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·5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일봉을 기간별 키로 분리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화면 없이 차트와 종목 정보를 먼저 구성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4535424"/>
            <a:ext cx="1005840" cy="0"/>
          </a:xfrm>
          <a:prstGeom prst="line">
            <a:avLst/>
          </a:prstGeom>
          <a:noFill/>
          <a:ln w="30480">
            <a:solidFill>
              <a:srgbClr val="E54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5196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갱신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599432"/>
            <a:ext cx="49834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Express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저장값을 우선 응답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KIS API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값이 오면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다시 저장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React state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브라우저 캐시를 함께 갱신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마감 시 마지막 정상 데이터를 계속 사용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4535424"/>
            <a:ext cx="1005840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구조와 구현 포인트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화면부터 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 API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저장까지 연결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645920" cy="4389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42032" y="1417320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종목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보유자산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주문내역과 로딩 상태 관리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31520" y="2185416"/>
            <a:ext cx="1645920" cy="4389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캐시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42032" y="2185416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시세와 기간별 차트를 먼저 읽어 초기 화면 지연 최소화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31520" y="2953512"/>
            <a:ext cx="1645920" cy="4389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2953512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quotes·charts·orders 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처리하고 </a:t>
            </a:r>
            <a:r>
              <a:rPr 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KIS·SQLite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연결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31520" y="3721608"/>
            <a:ext cx="1645920" cy="4389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3721608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 후에도 시세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데이터를 파일 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유지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31520" y="4489704"/>
            <a:ext cx="1645920" cy="4389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정렬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4489704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종목코드 → 코드 앞자리 → 이름</a:t>
            </a:r>
            <a:r>
              <a:rPr lang="en-US" altLang="ko-KR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2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순으로 우선순위 적용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68096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파일 구조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1810512"/>
            <a:ext cx="3474720" cy="2999232"/>
          </a:xfrm>
          <a:prstGeom prst="rect">
            <a:avLst/>
          </a:prstGeom>
          <a:solidFill>
            <a:srgbClr val="0F2033"/>
          </a:solidFill>
          <a:ln w="12700">
            <a:solidFill>
              <a:srgbClr val="0F203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개인홈페이지</a:t>
            </a:r>
            <a:r>
              <a:rPr lang="en-US" altLang="ko-KR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</a:p>
          <a:p>
            <a:pPr marL="0" indent="0" algn="l">
              <a:buNone/>
            </a:pPr>
            <a:r>
              <a:rPr lang="en-US" altLang="ko-KR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├─ </a:t>
            </a: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package.json / vite.config.js</a:t>
            </a:r>
          </a:p>
          <a:p>
            <a:pPr marL="0" indent="0" algn="l">
              <a:buNone/>
            </a:pP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├─ server / API·SQLite·KIS </a:t>
            </a: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</a:p>
          <a:p>
            <a:pPr marL="0" indent="0" algn="l">
              <a:buNone/>
            </a:pP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└─ </a:t>
            </a: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src</a:t>
            </a:r>
          </a:p>
          <a:p>
            <a:pPr marL="0" indent="0" algn="l">
              <a:buNone/>
            </a:pP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├─ App.jsx / styles.css</a:t>
            </a:r>
          </a:p>
          <a:p>
            <a:pPr marL="0" indent="0" algn="l">
              <a:buNone/>
            </a:pP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├─ components / </a:t>
            </a: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영역</a:t>
            </a:r>
          </a:p>
          <a:p>
            <a:pPr marL="0" indent="0" algn="l">
              <a:buNone/>
            </a:pP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├─ </a:t>
            </a: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/ </a:t>
            </a: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</a:t>
            </a:r>
            <a:r>
              <a:rPr lang="en-US" altLang="ko-KR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</a:p>
          <a:p>
            <a:pPr marL="0" indent="0" algn="l">
              <a:buNone/>
            </a:pP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└─ </a:t>
            </a:r>
            <a:r>
              <a:rPr 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services / API·</a:t>
            </a:r>
            <a:r>
              <a:rPr lang="ko-KR" altLang="en-US" sz="1100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처리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5074920"/>
            <a:ext cx="3474720" cy="685800"/>
          </a:xfrm>
          <a:prstGeom prst="rect">
            <a:avLst/>
          </a:prstGeom>
          <a:solidFill>
            <a:srgbClr val="EAF5FF"/>
          </a:solidFill>
          <a:ln w="12700">
            <a:solidFill>
              <a:srgbClr val="D8E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r>
              <a:rPr lang="en-US" altLang="ko-KR" sz="11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11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책임을 분리하고 주석으로 전체 동작 순서를 설명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25CE66DF-9E23-42C0-8280-8A71AD44A7C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257800" cy="40233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</a:t>
            </a:r>
            <a:r>
              <a:rPr lang="en-US" altLang="ko-KR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검색 개선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증권사형 정보 구조에 실제 동작하는 통합 검색을 결합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화면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72200" y="1764792"/>
            <a:ext cx="50292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포스코 블루 기반 헤더와 탭 구조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영역을 한 화면에 배치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영역의 고정 폭과 정렬로 가독성 확보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700784"/>
            <a:ext cx="1005840" cy="0"/>
          </a:xfrm>
          <a:prstGeom prst="line">
            <a:avLst/>
          </a:prstGeom>
          <a:noFill/>
          <a:ln w="30480">
            <a:solidFill>
              <a:srgbClr val="0072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3017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정확도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3364992"/>
            <a:ext cx="50292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005490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코드 정확 일치 우선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005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 코드가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005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시작하는 종목 우선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KOSPI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 해당 시장 종목을 함께 노출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3300984"/>
            <a:ext cx="1005840" cy="0"/>
          </a:xfrm>
          <a:prstGeom prst="line">
            <a:avLst/>
          </a:prstGeom>
          <a:noFill/>
          <a:ln w="30480">
            <a:solidFill>
              <a:srgbClr val="E548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4617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체감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4965192"/>
            <a:ext cx="50292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저장값을 즉시 표시해 첫 화면 대기 최소화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종목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기간이 바뀌면 해당 차트를 우선 조회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값 도착 시 화면을 중단 없이 교체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4901184"/>
            <a:ext cx="1005840" cy="0"/>
          </a:xfrm>
          <a:prstGeom prst="line">
            <a:avLst/>
          </a:prstGeom>
          <a:noFill/>
          <a:ln w="30480">
            <a:solidFill>
              <a:srgbClr val="00A6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환경과 실행 방법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프론트엔드와 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한 명령으로 실행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Front-End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6824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JSX · CSS · Vite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0" y="1417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Back-End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6824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Express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14173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0" y="16824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0A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API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52560" y="1682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180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한국투자증권 </a:t>
            </a:r>
            <a:r>
              <a:rPr lang="en-US" altLang="ko-KR" sz="1800" b="1">
                <a:solidFill>
                  <a:srgbClr val="6D5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2011680" cy="347472"/>
          </a:xfrm>
          <a:prstGeom prst="rect">
            <a:avLst/>
          </a:prstGeom>
          <a:solidFill>
            <a:srgbClr val="EAF5FF"/>
          </a:solidFill>
          <a:ln w="12700">
            <a:solidFill>
              <a:srgbClr val="EAF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00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3657600" cy="1143000"/>
          </a:xfrm>
          <a:prstGeom prst="rect">
            <a:avLst/>
          </a:prstGeom>
          <a:solidFill>
            <a:srgbClr val="0F2033"/>
          </a:solidFill>
          <a:ln w="12700">
            <a:solidFill>
              <a:srgbClr val="0F20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install</a:t>
            </a:r>
          </a:p>
          <a:p>
            <a:pPr marL="0" indent="0" algn="l">
              <a:buNone/>
            </a:pPr>
            <a:r>
              <a:rPr lang="en-US" sz="1700" b="1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run dev:all</a:t>
            </a:r>
          </a:p>
          <a:p>
            <a:pPr marL="0" indent="0" algn="l">
              <a:buNone/>
            </a:pPr>
            <a:r>
              <a:rPr lang="en-US" sz="1700" b="1">
                <a:solidFill>
                  <a:srgbClr val="D8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http://localhost:5173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2880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방식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227832"/>
            <a:ext cx="52120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Vite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화면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Express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처리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없거나 장이 닫히면 </a:t>
            </a: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최근값 사용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실행 중 수집한 데이터만 새로 저장</a:t>
            </a:r>
          </a:p>
          <a:p>
            <a:pPr marL="0" indent="0">
              <a:buNone/>
            </a:pPr>
            <a:r>
              <a:rPr lang="en-US" altLang="ko-KR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</a:t>
            </a:r>
            <a:r>
              <a:rPr lang="ko-KR" altLang="en-US" sz="105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서버 재시작 후에도 유지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3163824"/>
            <a:ext cx="1005840" cy="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94960"/>
            <a:ext cx="10058400" cy="5029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r>
              <a:rPr lang="en-US" altLang="ko-KR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시세 연동과 영속 저장을 구현한 학습용 가상 증권사 모의투자 서비스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통해 구현한 역량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r>
              <a:rPr lang="en-US" altLang="ko-KR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·API·DB</a:t>
            </a: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실제 서비스 흐름으로 연결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411480" cy="329184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89888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상태 설계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0128" y="144475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 선표시와 최신값 갱신 상태를 구분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411480" cy="329184"/>
          </a:xfrm>
          <a:prstGeom prst="rect">
            <a:avLst/>
          </a:prstGeom>
          <a:solidFill>
            <a:srgbClr val="00A676"/>
          </a:solidFill>
          <a:ln>
            <a:solidFill>
              <a:srgbClr val="00A67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2295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영속성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0128" y="232257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스키마와 기간별 차트 저장 키 설계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411480" cy="329184"/>
          </a:xfrm>
          <a:prstGeom prst="rect">
            <a:avLst/>
          </a:prstGeom>
          <a:solidFill>
            <a:srgbClr val="E5484D"/>
          </a:solidFill>
          <a:ln>
            <a:solidFill>
              <a:srgbClr val="E548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89888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320040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저장</a:t>
            </a: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·React 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재렌더링을 연결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411480" cy="329184"/>
          </a:xfrm>
          <a:prstGeom prst="rect">
            <a:avLst/>
          </a:prstGeom>
          <a:solidFill>
            <a:srgbClr val="6D5DF7"/>
          </a:solidFill>
          <a:ln>
            <a:solidFill>
              <a:srgbClr val="6D5DF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9888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407822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종목코드와 시장명에 맞춘 정규화</a:t>
            </a: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정렬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411480" cy="32918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4928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</a:t>
            </a:r>
            <a:r>
              <a:rPr lang="ko-KR" altLang="en-US" sz="14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10128" y="4956048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폭</a:t>
            </a: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</a:t>
            </a:r>
            <a:r>
              <a:rPr lang="en-US" altLang="ko-KR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70">
                <a:solidFill>
                  <a:srgbClr val="15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중 레이아웃을 안정적으로 유지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1051560" y="5715000"/>
            <a:ext cx="9966960" cy="502920"/>
          </a:xfrm>
          <a:prstGeom prst="rect">
            <a:avLst/>
          </a:prstGeom>
          <a:solidFill>
            <a:srgbClr val="EAF5FF"/>
          </a:solidFill>
          <a:ln w="12700">
            <a:solidFill>
              <a:srgbClr val="D8E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3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altLang="ko-KR" sz="13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3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데이터를 즉시 보여주고 실제 데이터로 갱신하는 완성형 금융 화면의 핵심 흐름을 구현했다</a:t>
            </a:r>
            <a:r>
              <a:rPr lang="en-US" altLang="ko-KR" sz="132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성과와 다음 단계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기획의 핵심 항목은 완료하고 운영 안정성을 고도화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pic>
        <p:nvPicPr>
          <p:cNvPr id="5" name="Image 0" descr="/mnt/data/wide_clean_corporate_fintech_tech_roadmap_illustr.png"/>
          <p:cNvPicPr>
            <a:picLocks noChangeAspect="1"/>
          </p:cNvPicPr>
          <p:nvPr/>
        </p:nvPicPr>
        <p:blipFill>
          <a:blip r:embed="rId3"/>
          <a:srcRect t="25000" r="-11784" b="27000"/>
          <a:stretch/>
        </p:blipFill>
        <p:spPr>
          <a:xfrm>
            <a:off x="594360" y="1234440"/>
            <a:ext cx="1097280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343400"/>
            <a:ext cx="1783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</a:p>
          <a:p>
            <a:pPr marL="0" indent="0" algn="ctr">
              <a:buNone/>
            </a:pP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종목</a:t>
            </a:r>
          </a:p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71800" y="4343400"/>
            <a:ext cx="1783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</a:p>
          <a:p>
            <a:pPr marL="0" indent="0" algn="ctr">
              <a:buNone/>
            </a:pP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</a:t>
            </a:r>
          </a:p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연동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20640" y="4343400"/>
            <a:ext cx="1783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</a:p>
          <a:p>
            <a:pPr marL="0" indent="0" algn="ctr">
              <a:buNone/>
            </a:pP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Express·SQLite</a:t>
            </a:r>
          </a:p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 유지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69480" y="4343400"/>
            <a:ext cx="1783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</a:p>
          <a:p>
            <a:pPr marL="0" indent="0" algn="ctr">
              <a:buNone/>
            </a:pP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·5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</a:t>
            </a:r>
          </a:p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선표시</a:t>
            </a: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418320" y="4343400"/>
            <a:ext cx="1783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</a:p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</a:t>
            </a: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</a:p>
          <a:p>
            <a:pPr marL="0" indent="0" algn="ctr">
              <a:buNone/>
            </a:pP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지정가</a:t>
            </a:r>
            <a:r>
              <a:rPr lang="en-US" altLang="ko-KR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미체결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5669280"/>
            <a:ext cx="10149840" cy="5029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목표</a:t>
            </a:r>
            <a:r>
              <a:rPr lang="en-US" altLang="ko-KR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계좌 저장</a:t>
            </a:r>
            <a:r>
              <a:rPr lang="en-US" altLang="ko-KR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유형 확장</a:t>
            </a:r>
            <a:r>
              <a:rPr lang="en-US" altLang="ko-KR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복구와 데이터 수집 상태 모니터링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POSCO Securities Simulator · 개인 프로젝트 기획서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D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1527</Words>
  <Application>Microsoft Office PowerPoint</Application>
  <PresentationFormat>와이드스크린</PresentationFormat>
  <Paragraphs>329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포스코증권 웹 트레이딩 시스템 개인프로젝트 기획서</dc:title>
  <dc:subject>개인 프로젝트 기획서</dc:subject>
  <dc:creator>OpenAI</dc:creator>
  <cp:lastModifiedBy>On Coding</cp:lastModifiedBy>
  <cp:revision>4</cp:revision>
  <dcterms:created xsi:type="dcterms:W3CDTF">2026-08-28T01:06:58Z</dcterms:created>
  <dcterms:modified xsi:type="dcterms:W3CDTF">2026-09-03T11:52:43Z</dcterms:modified>
</cp:coreProperties>
</file>